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1" r:id="rId3"/>
    <p:sldId id="257" r:id="rId4"/>
    <p:sldId id="268" r:id="rId5"/>
    <p:sldId id="273" r:id="rId6"/>
    <p:sldId id="272" r:id="rId7"/>
    <p:sldId id="259" r:id="rId8"/>
    <p:sldId id="260" r:id="rId9"/>
    <p:sldId id="261" r:id="rId10"/>
    <p:sldId id="262" r:id="rId11"/>
    <p:sldId id="263" r:id="rId12"/>
    <p:sldId id="264" r:id="rId13"/>
    <p:sldId id="265" r:id="rId14"/>
    <p:sldId id="266" r:id="rId15"/>
    <p:sldId id="267"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p:restoredTop sz="94610"/>
  </p:normalViewPr>
  <p:slideViewPr>
    <p:cSldViewPr snapToGrid="0" snapToObjects="1">
      <p:cViewPr varScale="1">
        <p:scale>
          <a:sx n="120" d="100"/>
          <a:sy n="120" d="100"/>
        </p:scale>
        <p:origin x="19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8859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759FD-17E2-079A-AE26-4DA03A529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8F5959-5F07-9B32-42BD-60A801059A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0BCEC8-F9AD-FDB5-D9CC-140B1A9DA1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846207-6C62-7D8F-642B-EBF11008CAA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66572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D55F7-B593-B2F6-AA3F-D1AB3285B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297B4-689C-65EB-7BAE-6AACF1642C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EF18E-23EA-52B3-0CB8-691851BC92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4515C9-2A51-9A36-468C-51AFCEEE5AD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002788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AAE8F-3083-9B6B-35B9-F17E54BCF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CBA32-A70C-2689-21FB-62D65814A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0CF969-8C48-6013-939A-FF920BFD8864}"/>
              </a:ext>
            </a:extLst>
          </p:cNvPr>
          <p:cNvSpPr>
            <a:spLocks noGrp="1"/>
          </p:cNvSpPr>
          <p:nvPr>
            <p:ph type="body" idx="1"/>
          </p:nvPr>
        </p:nvSpPr>
        <p:spPr/>
        <p:txBody>
          <a:bodyPr/>
          <a:lstStyle/>
          <a:p>
            <a:r>
              <a:t>Artifact scenario: Phishing email targeting faculty at an educational institution.</a:t>
            </a:r>
          </a:p>
          <a:p>
            <a:r>
              <a:t>Category: Threat Intel</a:t>
            </a:r>
          </a:p>
          <a:p>
            <a:r>
              <a:t>Tactics: Initial Access, Execution</a:t>
            </a:r>
          </a:p>
          <a:p>
            <a:r>
              <a:t>Tools: Email Header Analyzer, URLHaus, URLScan.io, VirusTotal, MalwareBazaar, VMRay</a:t>
            </a:r>
          </a:p>
          <a:p>
            <a:r>
              <a:t>Goal: Analyze email headers and threat intelligence to identify phishing indicators, malware persistence, and C2 channels, extracting actionable IOCs.</a:t>
            </a:r>
          </a:p>
        </p:txBody>
      </p:sp>
      <p:sp>
        <p:nvSpPr>
          <p:cNvPr id="4" name="Slide Number Placeholder 3">
            <a:extLst>
              <a:ext uri="{FF2B5EF4-FFF2-40B4-BE49-F238E27FC236}">
                <a16:creationId xmlns:a16="http://schemas.microsoft.com/office/drawing/2014/main" id="{4FA05ACC-5635-176B-562A-DA7ACBB33BA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025196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Artifact: Email.eml</a:t>
            </a:r>
          </a:p>
          <a:p>
            <a:r>
              <a:t>Sender: erikajohana.lopez@uptc.edu.co (trusted-contact spoof)</a:t>
            </a:r>
          </a:p>
          <a:p>
            <a:r>
              <a:t>Subject: COMMERCIAL PURCHASE RECEIPT ONLINE 27 NOV</a:t>
            </a:r>
          </a:p>
          <a:p>
            <a:r>
              <a:t>Lure: $625,000 purchase + invoice download link</a:t>
            </a:r>
          </a:p>
          <a:p>
            <a:r>
              <a:t>Malicious link: http://107.175.247.199/loader/install.exe</a:t>
            </a:r>
          </a:p>
          <a:p>
            <a:r>
              <a:t>Access code: 8657</a:t>
            </a:r>
          </a:p>
          <a:p>
            <a:r>
              <a:t>Header red flags: SPF softfail, DKIM fail (no key), DMARC none, ARC fail.</a:t>
            </a:r>
          </a:p>
          <a:p>
            <a:r>
              <a:t>Goal: extract IOCs (sender IP 18.208.22.104, link IP 107.175.247.199, URL path /loader/install.exe, Message-ID, hashes).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6"/>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626"/>
          </a:solidFill>
          <a:ln/>
        </p:spPr>
        <p:txBody>
          <a:bodyPr/>
          <a:lstStyle/>
          <a:p>
            <a:endParaRPr lang="en-US"/>
          </a:p>
        </p:txBody>
      </p:sp>
      <p:sp>
        <p:nvSpPr>
          <p:cNvPr id="3" name="Shape 1"/>
          <p:cNvSpPr/>
          <p:nvPr/>
        </p:nvSpPr>
        <p:spPr>
          <a:xfrm>
            <a:off x="9418320" y="-1463040"/>
            <a:ext cx="5029200" cy="5029200"/>
          </a:xfrm>
          <a:prstGeom prst="ellipse">
            <a:avLst/>
          </a:prstGeom>
          <a:solidFill>
            <a:srgbClr val="16233B"/>
          </a:solidFill>
          <a:ln/>
        </p:spPr>
        <p:txBody>
          <a:bodyPr/>
          <a:lstStyle/>
          <a:p>
            <a:endParaRPr lang="en-US"/>
          </a:p>
        </p:txBody>
      </p:sp>
      <p:sp>
        <p:nvSpPr>
          <p:cNvPr id="4" name="Shape 2"/>
          <p:cNvSpPr/>
          <p:nvPr/>
        </p:nvSpPr>
        <p:spPr>
          <a:xfrm>
            <a:off x="10607040" y="4206240"/>
            <a:ext cx="2743200" cy="2743200"/>
          </a:xfrm>
          <a:prstGeom prst="ellipse">
            <a:avLst/>
          </a:prstGeom>
          <a:solidFill>
            <a:srgbClr val="1B2A46"/>
          </a:solidFill>
          <a:ln/>
        </p:spPr>
        <p:txBody>
          <a:bodyPr/>
          <a:lstStyle/>
          <a:p>
            <a:endParaRPr lang="en-US"/>
          </a:p>
        </p:txBody>
      </p:sp>
      <p:sp>
        <p:nvSpPr>
          <p:cNvPr id="5" name="Text 3"/>
          <p:cNvSpPr/>
          <p:nvPr/>
        </p:nvSpPr>
        <p:spPr>
          <a:xfrm>
            <a:off x="822960" y="1417320"/>
            <a:ext cx="8229600" cy="365760"/>
          </a:xfrm>
          <a:prstGeom prst="rect">
            <a:avLst/>
          </a:prstGeom>
          <a:noFill/>
          <a:ln/>
        </p:spPr>
        <p:txBody>
          <a:bodyPr wrap="square" rtlCol="0" anchor="ctr"/>
          <a:lstStyle/>
          <a:p>
            <a:pPr marL="0" indent="0">
              <a:buNone/>
            </a:pPr>
            <a:r>
              <a:rPr lang="en-US" sz="1400" b="1" kern="0" spc="200" dirty="0">
                <a:solidFill>
                  <a:srgbClr val="F2A93B"/>
                </a:solidFill>
                <a:latin typeface="Calibri" pitchFamily="34" charset="0"/>
                <a:ea typeface="Calibri" pitchFamily="34" charset="-122"/>
                <a:cs typeface="Calibri" pitchFamily="34" charset="-120"/>
              </a:rPr>
              <a:t>WEEK 1  ·  INCIDENT RESPONSE LAB</a:t>
            </a:r>
            <a:endParaRPr lang="en-US" sz="1400" dirty="0"/>
          </a:p>
        </p:txBody>
      </p:sp>
      <p:sp>
        <p:nvSpPr>
          <p:cNvPr id="6" name="Text 4"/>
          <p:cNvSpPr/>
          <p:nvPr/>
        </p:nvSpPr>
        <p:spPr>
          <a:xfrm>
            <a:off x="777240" y="1828800"/>
            <a:ext cx="9601200" cy="1097280"/>
          </a:xfrm>
          <a:prstGeom prst="rect">
            <a:avLst/>
          </a:prstGeom>
          <a:noFill/>
          <a:ln/>
        </p:spPr>
        <p:txBody>
          <a:bodyPr wrap="square" rtlCol="0" anchor="ctr"/>
          <a:lstStyle/>
          <a:p>
            <a:pPr marL="0" indent="0">
              <a:buNone/>
            </a:pPr>
            <a:r>
              <a:rPr lang="en-US" sz="4600" b="1" dirty="0">
                <a:solidFill>
                  <a:srgbClr val="FFFFFF"/>
                </a:solidFill>
                <a:latin typeface="Cambria" pitchFamily="34" charset="0"/>
              </a:rPr>
              <a:t>Event To Incident [Threat Intel]</a:t>
            </a:r>
            <a:endParaRPr lang="en-US" sz="4600" dirty="0"/>
          </a:p>
        </p:txBody>
      </p:sp>
      <p:sp>
        <p:nvSpPr>
          <p:cNvPr id="7" name="Text 5"/>
          <p:cNvSpPr/>
          <p:nvPr/>
        </p:nvSpPr>
        <p:spPr>
          <a:xfrm>
            <a:off x="822960" y="2788920"/>
            <a:ext cx="9144000" cy="548640"/>
          </a:xfrm>
          <a:prstGeom prst="rect">
            <a:avLst/>
          </a:prstGeom>
          <a:noFill/>
          <a:ln/>
        </p:spPr>
        <p:txBody>
          <a:bodyPr wrap="square" rtlCol="0" anchor="ctr"/>
          <a:lstStyle/>
          <a:p>
            <a:pPr marL="0" indent="0">
              <a:buNone/>
            </a:pPr>
            <a:r>
              <a:rPr lang="en-US" sz="2200" dirty="0">
                <a:solidFill>
                  <a:srgbClr val="CBD9EE"/>
                </a:solidFill>
                <a:latin typeface="Calibri" pitchFamily="34" charset="0"/>
                <a:ea typeface="Calibri" pitchFamily="34" charset="-122"/>
                <a:cs typeface="Calibri" pitchFamily="34" charset="-120"/>
              </a:rPr>
              <a:t>From Security Event to Confirmed Incident</a:t>
            </a:r>
            <a:endParaRPr lang="en-US" sz="2200" dirty="0"/>
          </a:p>
        </p:txBody>
      </p:sp>
      <p:sp>
        <p:nvSpPr>
          <p:cNvPr id="8" name="Text 6"/>
          <p:cNvSpPr/>
          <p:nvPr/>
        </p:nvSpPr>
        <p:spPr>
          <a:xfrm>
            <a:off x="822960" y="3383280"/>
            <a:ext cx="9144000" cy="365760"/>
          </a:xfrm>
          <a:prstGeom prst="rect">
            <a:avLst/>
          </a:prstGeom>
          <a:noFill/>
          <a:ln/>
        </p:spPr>
        <p:txBody>
          <a:bodyPr wrap="square" rtlCol="0" anchor="ctr"/>
          <a:lstStyle/>
          <a:p>
            <a:pPr marL="0" indent="0">
              <a:buNone/>
            </a:pPr>
            <a:r>
              <a:rPr lang="en-US" sz="1400" i="1" dirty="0">
                <a:solidFill>
                  <a:srgbClr val="8FA5C7"/>
                </a:solidFill>
                <a:latin typeface="Calibri" pitchFamily="34" charset="0"/>
                <a:ea typeface="Calibri" pitchFamily="34" charset="-122"/>
                <a:cs typeface="Calibri" pitchFamily="34" charset="-120"/>
              </a:rPr>
              <a:t>Event Triage  ·  Incident Classification  ·  Threat Intelligence Validation</a:t>
            </a:r>
            <a:endParaRPr lang="en-US" sz="1400" dirty="0"/>
          </a:p>
        </p:txBody>
      </p:sp>
      <p:sp>
        <p:nvSpPr>
          <p:cNvPr id="9" name="Shape 7"/>
          <p:cNvSpPr/>
          <p:nvPr/>
        </p:nvSpPr>
        <p:spPr>
          <a:xfrm>
            <a:off x="822960" y="4297680"/>
            <a:ext cx="640080" cy="640080"/>
          </a:xfrm>
          <a:prstGeom prst="ellipse">
            <a:avLst/>
          </a:prstGeom>
          <a:solidFill>
            <a:srgbClr val="1E2C49"/>
          </a:solidFill>
          <a:ln/>
        </p:spPr>
        <p:txBody>
          <a:bodyPr/>
          <a:lstStyle/>
          <a:p>
            <a:endParaRPr lang="en-US"/>
          </a:p>
        </p:txBody>
      </p:sp>
      <p:pic>
        <p:nvPicPr>
          <p:cNvPr id="10" name="Image 0" descr="icon_shield.png"/>
          <p:cNvPicPr>
            <a:picLocks noChangeAspect="1"/>
          </p:cNvPicPr>
          <p:nvPr/>
        </p:nvPicPr>
        <p:blipFill>
          <a:blip r:embed="rId3"/>
          <a:stretch>
            <a:fillRect/>
          </a:stretch>
        </p:blipFill>
        <p:spPr>
          <a:xfrm>
            <a:off x="966978" y="4441698"/>
            <a:ext cx="352044" cy="352044"/>
          </a:xfrm>
          <a:prstGeom prst="rect">
            <a:avLst/>
          </a:prstGeom>
        </p:spPr>
      </p:pic>
      <p:sp>
        <p:nvSpPr>
          <p:cNvPr id="11" name="Text 8"/>
          <p:cNvSpPr/>
          <p:nvPr/>
        </p:nvSpPr>
        <p:spPr>
          <a:xfrm>
            <a:off x="1691640" y="4315968"/>
            <a:ext cx="7315200" cy="64008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Hands-on lab</a:t>
            </a:r>
            <a:endParaRPr lang="en-US" sz="1300" dirty="0"/>
          </a:p>
          <a:p>
            <a:pPr marL="0" indent="0">
              <a:buNone/>
            </a:pPr>
            <a:r>
              <a:rPr lang="en-US" sz="1300" dirty="0">
                <a:solidFill>
                  <a:srgbClr val="9AA7BB"/>
                </a:solidFill>
                <a:latin typeface="Calibri" pitchFamily="34" charset="0"/>
                <a:ea typeface="Calibri" pitchFamily="34" charset="-122"/>
                <a:cs typeface="Calibri" pitchFamily="34" charset="-120"/>
              </a:rPr>
              <a:t>Scenario: phishing email artifact analysis (Email.eml)</a:t>
            </a:r>
            <a:endParaRPr lang="en-US" sz="1300" dirty="0"/>
          </a:p>
        </p:txBody>
      </p:sp>
      <p:sp>
        <p:nvSpPr>
          <p:cNvPr id="12" name="Text 9"/>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E7F9C"/>
                </a:solidFill>
                <a:latin typeface="Calibri" pitchFamily="34" charset="0"/>
                <a:ea typeface="Calibri" pitchFamily="34" charset="-122"/>
                <a:cs typeface="Calibri" pitchFamily="34" charset="-120"/>
              </a:rPr>
              <a:t>Analyst Fundamentals</a:t>
            </a:r>
            <a:endParaRPr lang="en-US" sz="1000" dirty="0"/>
          </a:p>
        </p:txBody>
      </p:sp>
      <p:sp>
        <p:nvSpPr>
          <p:cNvPr id="13" name="Text 10"/>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6E7F9C"/>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a:extLst>
            <a:ext uri="{FF2B5EF4-FFF2-40B4-BE49-F238E27FC236}">
              <a16:creationId xmlns:a16="http://schemas.microsoft.com/office/drawing/2014/main" id="{E755E3C0-FFB4-08DF-701F-D8CC5CDAF8E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55A01D1-2BA5-4B9A-9023-B9A9A279E20D}"/>
              </a:ext>
            </a:extLst>
          </p:cNvPr>
          <p:cNvSpPr/>
          <p:nvPr/>
        </p:nvSpPr>
        <p:spPr>
          <a:xfrm>
            <a:off x="548640" y="457200"/>
            <a:ext cx="9144000" cy="548640"/>
          </a:xfrm>
          <a:prstGeom prst="rect">
            <a:avLst/>
          </a:prstGeom>
          <a:noFill/>
          <a:ln/>
        </p:spPr>
        <p:txBody>
          <a:bodyPr wrap="square" rtlCol="0" anchor="ctr"/>
          <a:lstStyle/>
          <a:p>
            <a:pPr marL="0" indent="0">
              <a:buNone/>
            </a:pPr>
            <a:r>
              <a:rPr lang="en-US" sz="3000" b="1" dirty="0">
                <a:solidFill>
                  <a:srgbClr val="0B1626"/>
                </a:solidFill>
                <a:latin typeface="Cambria" pitchFamily="34" charset="0"/>
                <a:ea typeface="Cambria" pitchFamily="34" charset="-122"/>
                <a:cs typeface="Cambria" pitchFamily="34" charset="-120"/>
              </a:rPr>
              <a:t>Incident Response Lifecycle (NIST)</a:t>
            </a:r>
            <a:endParaRPr lang="en-US" sz="3000" dirty="0"/>
          </a:p>
        </p:txBody>
      </p:sp>
      <p:sp>
        <p:nvSpPr>
          <p:cNvPr id="3" name="Text 1">
            <a:extLst>
              <a:ext uri="{FF2B5EF4-FFF2-40B4-BE49-F238E27FC236}">
                <a16:creationId xmlns:a16="http://schemas.microsoft.com/office/drawing/2014/main" id="{2833B6BC-B724-EA78-460A-03B5C6642C5D}"/>
              </a:ext>
            </a:extLst>
          </p:cNvPr>
          <p:cNvSpPr/>
          <p:nvPr/>
        </p:nvSpPr>
        <p:spPr>
          <a:xfrm>
            <a:off x="548640" y="1005840"/>
            <a:ext cx="10515600" cy="457200"/>
          </a:xfrm>
          <a:prstGeom prst="rect">
            <a:avLst/>
          </a:prstGeom>
          <a:noFill/>
          <a:ln/>
        </p:spPr>
        <p:txBody>
          <a:bodyPr wrap="square" rtlCol="0" anchor="ctr"/>
          <a:lstStyle/>
          <a:p>
            <a:r>
              <a:rPr lang="en-US" sz="1500" i="1" dirty="0">
                <a:latin typeface="Calibri" panose="020F0502020204030204" pitchFamily="34" charset="0"/>
                <a:cs typeface="Calibri" panose="020F0502020204030204" pitchFamily="34" charset="0"/>
              </a:rPr>
              <a:t>NIST stands for the National Standards and Technology Institute. Here are NIST incident response phases:</a:t>
            </a:r>
          </a:p>
        </p:txBody>
      </p:sp>
      <p:sp>
        <p:nvSpPr>
          <p:cNvPr id="8" name="Shape 6">
            <a:extLst>
              <a:ext uri="{FF2B5EF4-FFF2-40B4-BE49-F238E27FC236}">
                <a16:creationId xmlns:a16="http://schemas.microsoft.com/office/drawing/2014/main" id="{92E4D557-B1BD-5046-6937-C404D5205180}"/>
              </a:ext>
            </a:extLst>
          </p:cNvPr>
          <p:cNvSpPr/>
          <p:nvPr/>
        </p:nvSpPr>
        <p:spPr>
          <a:xfrm>
            <a:off x="548640" y="1608460"/>
            <a:ext cx="10891993" cy="4042532"/>
          </a:xfrm>
          <a:prstGeom prst="roundRect">
            <a:avLst>
              <a:gd name="adj" fmla="val 12903"/>
            </a:avLst>
          </a:prstGeom>
          <a:solidFill>
            <a:srgbClr val="FFFFFF"/>
          </a:solidFill>
          <a:ln w="12700">
            <a:solidFill>
              <a:srgbClr val="E2E7F0"/>
            </a:solidFill>
            <a:prstDash val="solid"/>
          </a:ln>
          <a:effectLst>
            <a:outerShdw blurRad="76200" dist="25400" dir="5400000" algn="bl" rotWithShape="0">
              <a:srgbClr val="1B2A46">
                <a:alpha val="12000"/>
              </a:srgbClr>
            </a:outerShdw>
          </a:effectLst>
        </p:spPr>
        <p:txBody>
          <a:bodyPr/>
          <a:lstStyle/>
          <a:p>
            <a:endParaRPr lang="en-US"/>
          </a:p>
        </p:txBody>
      </p:sp>
      <p:sp>
        <p:nvSpPr>
          <p:cNvPr id="34" name="Text 32">
            <a:extLst>
              <a:ext uri="{FF2B5EF4-FFF2-40B4-BE49-F238E27FC236}">
                <a16:creationId xmlns:a16="http://schemas.microsoft.com/office/drawing/2014/main" id="{6D0FD031-5E16-A86E-909F-FF4411CBEC3C}"/>
              </a:ext>
            </a:extLst>
          </p:cNvPr>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9AA7BB"/>
                </a:solidFill>
                <a:latin typeface="Calibri" pitchFamily="34" charset="0"/>
                <a:ea typeface="Calibri" pitchFamily="34" charset="-122"/>
                <a:cs typeface="Calibri" pitchFamily="34" charset="-120"/>
              </a:rPr>
              <a:t>Week 1 Lab</a:t>
            </a:r>
            <a:endParaRPr lang="en-US" sz="1000" dirty="0"/>
          </a:p>
        </p:txBody>
      </p:sp>
      <p:pic>
        <p:nvPicPr>
          <p:cNvPr id="1026" name="Picture 2">
            <a:extLst>
              <a:ext uri="{FF2B5EF4-FFF2-40B4-BE49-F238E27FC236}">
                <a16:creationId xmlns:a16="http://schemas.microsoft.com/office/drawing/2014/main" id="{20C422D3-4B1E-3C2E-F9E8-52822C6003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766" y="1758894"/>
            <a:ext cx="6909348" cy="3741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694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marL="0" indent="0">
              <a:buNone/>
            </a:pPr>
            <a:r>
              <a:rPr lang="en-US" sz="3000" b="1" dirty="0">
                <a:solidFill>
                  <a:srgbClr val="0B1626"/>
                </a:solidFill>
                <a:latin typeface="Cambria" pitchFamily="34" charset="0"/>
                <a:ea typeface="Cambria" pitchFamily="34" charset="-122"/>
                <a:cs typeface="Cambria" pitchFamily="34" charset="-120"/>
              </a:rPr>
              <a:t>Why This Matters In Industry</a:t>
            </a:r>
            <a:endParaRPr lang="en-US" sz="3000" dirty="0"/>
          </a:p>
        </p:txBody>
      </p:sp>
      <p:sp>
        <p:nvSpPr>
          <p:cNvPr id="3" name="Text 1"/>
          <p:cNvSpPr/>
          <p:nvPr/>
        </p:nvSpPr>
        <p:spPr>
          <a:xfrm>
            <a:off x="548640" y="1005840"/>
            <a:ext cx="10515600" cy="457200"/>
          </a:xfrm>
          <a:prstGeom prst="rect">
            <a:avLst/>
          </a:prstGeom>
          <a:noFill/>
          <a:ln/>
        </p:spPr>
        <p:txBody>
          <a:bodyPr wrap="square" rtlCol="0" anchor="ctr"/>
          <a:lstStyle/>
          <a:p>
            <a:pPr marL="0" indent="0">
              <a:buNone/>
            </a:pPr>
            <a:r>
              <a:rPr lang="en-US" sz="1500" i="1" dirty="0">
                <a:solidFill>
                  <a:srgbClr val="44536B"/>
                </a:solidFill>
                <a:latin typeface="Calibri" pitchFamily="34" charset="0"/>
                <a:ea typeface="Calibri" pitchFamily="34" charset="-122"/>
                <a:cs typeface="Calibri" pitchFamily="34" charset="-120"/>
              </a:rPr>
              <a:t>Junior analysts rarely fail from a lack of tools. They fail from not knowing what to do first.</a:t>
            </a:r>
            <a:endParaRPr lang="en-US" sz="1500" dirty="0"/>
          </a:p>
        </p:txBody>
      </p:sp>
      <p:sp>
        <p:nvSpPr>
          <p:cNvPr id="4" name="Shape 2"/>
          <p:cNvSpPr/>
          <p:nvPr/>
        </p:nvSpPr>
        <p:spPr>
          <a:xfrm>
            <a:off x="548640" y="1828800"/>
            <a:ext cx="5074920" cy="566928"/>
          </a:xfrm>
          <a:prstGeom prst="roundRect">
            <a:avLst>
              <a:gd name="adj" fmla="val 12903"/>
            </a:avLst>
          </a:prstGeom>
          <a:solidFill>
            <a:srgbClr val="FFFFFF"/>
          </a:solidFill>
          <a:ln w="12700">
            <a:solidFill>
              <a:srgbClr val="E2E7F0"/>
            </a:solidFill>
            <a:prstDash val="solid"/>
          </a:ln>
          <a:effectLst>
            <a:outerShdw blurRad="76200" dist="25400" dir="5400000" algn="bl" rotWithShape="0">
              <a:srgbClr val="1B2A46">
                <a:alpha val="12000"/>
              </a:srgbClr>
            </a:outerShdw>
          </a:effectLst>
        </p:spPr>
        <p:txBody>
          <a:bodyPr/>
          <a:lstStyle/>
          <a:p>
            <a:endParaRPr lang="en-US"/>
          </a:p>
        </p:txBody>
      </p:sp>
      <p:sp>
        <p:nvSpPr>
          <p:cNvPr id="5" name="Shape 3"/>
          <p:cNvSpPr/>
          <p:nvPr/>
        </p:nvSpPr>
        <p:spPr>
          <a:xfrm>
            <a:off x="685800" y="1956816"/>
            <a:ext cx="310896" cy="310896"/>
          </a:xfrm>
          <a:prstGeom prst="ellipse">
            <a:avLst/>
          </a:prstGeom>
          <a:solidFill>
            <a:srgbClr val="F2A93B"/>
          </a:solidFill>
          <a:ln/>
        </p:spPr>
        <p:txBody>
          <a:bodyPr/>
          <a:lstStyle/>
          <a:p>
            <a:endParaRPr lang="en-US"/>
          </a:p>
        </p:txBody>
      </p:sp>
      <p:sp>
        <p:nvSpPr>
          <p:cNvPr id="6" name="Text 4"/>
          <p:cNvSpPr/>
          <p:nvPr/>
        </p:nvSpPr>
        <p:spPr>
          <a:xfrm>
            <a:off x="685800" y="1956816"/>
            <a:ext cx="310896" cy="310896"/>
          </a:xfrm>
          <a:prstGeom prst="rect">
            <a:avLst/>
          </a:prstGeom>
          <a:noFill/>
          <a:ln/>
        </p:spPr>
        <p:txBody>
          <a:bodyPr wrap="square" rtlCol="0" anchor="ctr"/>
          <a:lstStyle/>
          <a:p>
            <a:pPr marL="0" indent="0" algn="ctr">
              <a:buNone/>
            </a:pPr>
            <a:r>
              <a:rPr lang="en-US" sz="1300" b="1" dirty="0">
                <a:solidFill>
                  <a:srgbClr val="0B1626"/>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15568" y="1828800"/>
            <a:ext cx="4389120" cy="566928"/>
          </a:xfrm>
          <a:prstGeom prst="rect">
            <a:avLst/>
          </a:prstGeom>
          <a:noFill/>
          <a:ln/>
        </p:spPr>
        <p:txBody>
          <a:bodyPr wrap="square" rtlCol="0" anchor="ctr"/>
          <a:lstStyle/>
          <a:p>
            <a:pPr marL="0" indent="0">
              <a:buNone/>
            </a:pPr>
            <a:r>
              <a:rPr lang="en-US" sz="1300" b="1" dirty="0">
                <a:solidFill>
                  <a:srgbClr val="0B1626"/>
                </a:solidFill>
                <a:latin typeface="Calibri" pitchFamily="34" charset="0"/>
                <a:ea typeface="Calibri" pitchFamily="34" charset="-122"/>
                <a:cs typeface="Calibri" pitchFamily="34" charset="-120"/>
              </a:rPr>
              <a:t>What happened?</a:t>
            </a:r>
            <a:endParaRPr lang="en-US" sz="1300" dirty="0"/>
          </a:p>
        </p:txBody>
      </p:sp>
      <p:sp>
        <p:nvSpPr>
          <p:cNvPr id="8" name="Shape 6"/>
          <p:cNvSpPr/>
          <p:nvPr/>
        </p:nvSpPr>
        <p:spPr>
          <a:xfrm>
            <a:off x="5989320" y="1828800"/>
            <a:ext cx="5074920" cy="566928"/>
          </a:xfrm>
          <a:prstGeom prst="roundRect">
            <a:avLst>
              <a:gd name="adj" fmla="val 12903"/>
            </a:avLst>
          </a:prstGeom>
          <a:solidFill>
            <a:srgbClr val="FFFFFF"/>
          </a:solidFill>
          <a:ln w="12700">
            <a:solidFill>
              <a:srgbClr val="E2E7F0"/>
            </a:solidFill>
            <a:prstDash val="solid"/>
          </a:ln>
          <a:effectLst>
            <a:outerShdw blurRad="76200" dist="25400" dir="5400000" algn="bl" rotWithShape="0">
              <a:srgbClr val="1B2A46">
                <a:alpha val="12000"/>
              </a:srgbClr>
            </a:outerShdw>
          </a:effectLst>
        </p:spPr>
        <p:txBody>
          <a:bodyPr/>
          <a:lstStyle/>
          <a:p>
            <a:endParaRPr lang="en-US"/>
          </a:p>
        </p:txBody>
      </p:sp>
      <p:sp>
        <p:nvSpPr>
          <p:cNvPr id="9" name="Shape 7"/>
          <p:cNvSpPr/>
          <p:nvPr/>
        </p:nvSpPr>
        <p:spPr>
          <a:xfrm>
            <a:off x="6126480" y="1956816"/>
            <a:ext cx="310896" cy="310896"/>
          </a:xfrm>
          <a:prstGeom prst="ellipse">
            <a:avLst/>
          </a:prstGeom>
          <a:solidFill>
            <a:srgbClr val="F2A93B"/>
          </a:solidFill>
          <a:ln/>
        </p:spPr>
        <p:txBody>
          <a:bodyPr/>
          <a:lstStyle/>
          <a:p>
            <a:endParaRPr lang="en-US"/>
          </a:p>
        </p:txBody>
      </p:sp>
      <p:sp>
        <p:nvSpPr>
          <p:cNvPr id="10" name="Text 8"/>
          <p:cNvSpPr/>
          <p:nvPr/>
        </p:nvSpPr>
        <p:spPr>
          <a:xfrm>
            <a:off x="6126480" y="1956816"/>
            <a:ext cx="310896" cy="310896"/>
          </a:xfrm>
          <a:prstGeom prst="rect">
            <a:avLst/>
          </a:prstGeom>
          <a:noFill/>
          <a:ln/>
        </p:spPr>
        <p:txBody>
          <a:bodyPr wrap="square" rtlCol="0" anchor="ctr"/>
          <a:lstStyle/>
          <a:p>
            <a:pPr marL="0" indent="0" algn="ctr">
              <a:buNone/>
            </a:pPr>
            <a:r>
              <a:rPr lang="en-US" sz="1300" b="1" dirty="0">
                <a:solidFill>
                  <a:srgbClr val="0B16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6556248" y="1828800"/>
            <a:ext cx="4389120" cy="566928"/>
          </a:xfrm>
          <a:prstGeom prst="rect">
            <a:avLst/>
          </a:prstGeom>
          <a:noFill/>
          <a:ln/>
        </p:spPr>
        <p:txBody>
          <a:bodyPr wrap="square" rtlCol="0" anchor="ctr"/>
          <a:lstStyle/>
          <a:p>
            <a:pPr marL="0" indent="0">
              <a:buNone/>
            </a:pPr>
            <a:r>
              <a:rPr lang="en-US" sz="1300" b="1" dirty="0">
                <a:solidFill>
                  <a:srgbClr val="0B1626"/>
                </a:solidFill>
                <a:latin typeface="Calibri" pitchFamily="34" charset="0"/>
                <a:ea typeface="Calibri" pitchFamily="34" charset="-122"/>
                <a:cs typeface="Calibri" pitchFamily="34" charset="-120"/>
              </a:rPr>
              <a:t>Who or what is affected?</a:t>
            </a:r>
            <a:endParaRPr lang="en-US" sz="1300" dirty="0"/>
          </a:p>
        </p:txBody>
      </p:sp>
      <p:sp>
        <p:nvSpPr>
          <p:cNvPr id="12" name="Shape 10"/>
          <p:cNvSpPr/>
          <p:nvPr/>
        </p:nvSpPr>
        <p:spPr>
          <a:xfrm>
            <a:off x="548640" y="2542032"/>
            <a:ext cx="5074920" cy="566928"/>
          </a:xfrm>
          <a:prstGeom prst="roundRect">
            <a:avLst>
              <a:gd name="adj" fmla="val 12903"/>
            </a:avLst>
          </a:prstGeom>
          <a:solidFill>
            <a:srgbClr val="FFFFFF"/>
          </a:solidFill>
          <a:ln w="12700">
            <a:solidFill>
              <a:srgbClr val="E2E7F0"/>
            </a:solidFill>
            <a:prstDash val="solid"/>
          </a:ln>
          <a:effectLst>
            <a:outerShdw blurRad="76200" dist="25400" dir="5400000" algn="bl" rotWithShape="0">
              <a:srgbClr val="1B2A46">
                <a:alpha val="12000"/>
              </a:srgbClr>
            </a:outerShdw>
          </a:effectLst>
        </p:spPr>
        <p:txBody>
          <a:bodyPr/>
          <a:lstStyle/>
          <a:p>
            <a:endParaRPr lang="en-US"/>
          </a:p>
        </p:txBody>
      </p:sp>
      <p:sp>
        <p:nvSpPr>
          <p:cNvPr id="13" name="Shape 11"/>
          <p:cNvSpPr/>
          <p:nvPr/>
        </p:nvSpPr>
        <p:spPr>
          <a:xfrm>
            <a:off x="685800" y="2670048"/>
            <a:ext cx="310896" cy="310896"/>
          </a:xfrm>
          <a:prstGeom prst="ellipse">
            <a:avLst/>
          </a:prstGeom>
          <a:solidFill>
            <a:srgbClr val="F2A93B"/>
          </a:solidFill>
          <a:ln/>
        </p:spPr>
        <p:txBody>
          <a:bodyPr/>
          <a:lstStyle/>
          <a:p>
            <a:endParaRPr lang="en-US"/>
          </a:p>
        </p:txBody>
      </p:sp>
      <p:sp>
        <p:nvSpPr>
          <p:cNvPr id="14" name="Text 12"/>
          <p:cNvSpPr/>
          <p:nvPr/>
        </p:nvSpPr>
        <p:spPr>
          <a:xfrm>
            <a:off x="685800" y="2670048"/>
            <a:ext cx="310896" cy="310896"/>
          </a:xfrm>
          <a:prstGeom prst="rect">
            <a:avLst/>
          </a:prstGeom>
          <a:noFill/>
          <a:ln/>
        </p:spPr>
        <p:txBody>
          <a:bodyPr wrap="square" rtlCol="0" anchor="ctr"/>
          <a:lstStyle/>
          <a:p>
            <a:pPr marL="0" indent="0" algn="ctr">
              <a:buNone/>
            </a:pPr>
            <a:r>
              <a:rPr lang="en-US" sz="1300" b="1" dirty="0">
                <a:solidFill>
                  <a:srgbClr val="0B1626"/>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15568" y="2542032"/>
            <a:ext cx="4389120" cy="566928"/>
          </a:xfrm>
          <a:prstGeom prst="rect">
            <a:avLst/>
          </a:prstGeom>
          <a:noFill/>
          <a:ln/>
        </p:spPr>
        <p:txBody>
          <a:bodyPr wrap="square" rtlCol="0" anchor="ctr"/>
          <a:lstStyle/>
          <a:p>
            <a:pPr marL="0" indent="0">
              <a:buNone/>
            </a:pPr>
            <a:r>
              <a:rPr lang="en-US" sz="1300" b="1" dirty="0">
                <a:solidFill>
                  <a:srgbClr val="0B1626"/>
                </a:solidFill>
                <a:latin typeface="Calibri" pitchFamily="34" charset="0"/>
                <a:ea typeface="Calibri" pitchFamily="34" charset="-122"/>
                <a:cs typeface="Calibri" pitchFamily="34" charset="-120"/>
              </a:rPr>
              <a:t>What evidence do we have?</a:t>
            </a:r>
            <a:endParaRPr lang="en-US" sz="1300" dirty="0"/>
          </a:p>
        </p:txBody>
      </p:sp>
      <p:sp>
        <p:nvSpPr>
          <p:cNvPr id="16" name="Shape 14"/>
          <p:cNvSpPr/>
          <p:nvPr/>
        </p:nvSpPr>
        <p:spPr>
          <a:xfrm>
            <a:off x="5989320" y="2542032"/>
            <a:ext cx="5074920" cy="566928"/>
          </a:xfrm>
          <a:prstGeom prst="roundRect">
            <a:avLst>
              <a:gd name="adj" fmla="val 12903"/>
            </a:avLst>
          </a:prstGeom>
          <a:solidFill>
            <a:srgbClr val="FFFFFF"/>
          </a:solidFill>
          <a:ln w="12700">
            <a:solidFill>
              <a:srgbClr val="E2E7F0"/>
            </a:solidFill>
            <a:prstDash val="solid"/>
          </a:ln>
          <a:effectLst>
            <a:outerShdw blurRad="76200" dist="25400" dir="5400000" algn="bl" rotWithShape="0">
              <a:srgbClr val="1B2A46">
                <a:alpha val="12000"/>
              </a:srgbClr>
            </a:outerShdw>
          </a:effectLst>
        </p:spPr>
        <p:txBody>
          <a:bodyPr/>
          <a:lstStyle/>
          <a:p>
            <a:endParaRPr lang="en-US"/>
          </a:p>
        </p:txBody>
      </p:sp>
      <p:sp>
        <p:nvSpPr>
          <p:cNvPr id="17" name="Shape 15"/>
          <p:cNvSpPr/>
          <p:nvPr/>
        </p:nvSpPr>
        <p:spPr>
          <a:xfrm>
            <a:off x="6126480" y="2670048"/>
            <a:ext cx="310896" cy="310896"/>
          </a:xfrm>
          <a:prstGeom prst="ellipse">
            <a:avLst/>
          </a:prstGeom>
          <a:solidFill>
            <a:srgbClr val="F2A93B"/>
          </a:solidFill>
          <a:ln/>
        </p:spPr>
        <p:txBody>
          <a:bodyPr/>
          <a:lstStyle/>
          <a:p>
            <a:endParaRPr lang="en-US"/>
          </a:p>
        </p:txBody>
      </p:sp>
      <p:sp>
        <p:nvSpPr>
          <p:cNvPr id="18" name="Text 16"/>
          <p:cNvSpPr/>
          <p:nvPr/>
        </p:nvSpPr>
        <p:spPr>
          <a:xfrm>
            <a:off x="6126480" y="2670048"/>
            <a:ext cx="310896" cy="310896"/>
          </a:xfrm>
          <a:prstGeom prst="rect">
            <a:avLst/>
          </a:prstGeom>
          <a:noFill/>
          <a:ln/>
        </p:spPr>
        <p:txBody>
          <a:bodyPr wrap="square" rtlCol="0" anchor="ctr"/>
          <a:lstStyle/>
          <a:p>
            <a:pPr marL="0" indent="0" algn="ctr">
              <a:buNone/>
            </a:pPr>
            <a:r>
              <a:rPr lang="en-US" sz="1300" b="1" dirty="0">
                <a:solidFill>
                  <a:srgbClr val="0B1626"/>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6556248" y="2542032"/>
            <a:ext cx="4389120" cy="566928"/>
          </a:xfrm>
          <a:prstGeom prst="rect">
            <a:avLst/>
          </a:prstGeom>
          <a:noFill/>
          <a:ln/>
        </p:spPr>
        <p:txBody>
          <a:bodyPr wrap="square" rtlCol="0" anchor="ctr"/>
          <a:lstStyle/>
          <a:p>
            <a:pPr marL="0" indent="0">
              <a:buNone/>
            </a:pPr>
            <a:r>
              <a:rPr lang="en-US" sz="1300" b="1" dirty="0">
                <a:solidFill>
                  <a:srgbClr val="0B1626"/>
                </a:solidFill>
                <a:latin typeface="Calibri" pitchFamily="34" charset="0"/>
                <a:ea typeface="Calibri" pitchFamily="34" charset="-122"/>
                <a:cs typeface="Calibri" pitchFamily="34" charset="-120"/>
              </a:rPr>
              <a:t>What evidence is missing?</a:t>
            </a:r>
            <a:endParaRPr lang="en-US" sz="1300" dirty="0"/>
          </a:p>
        </p:txBody>
      </p:sp>
      <p:sp>
        <p:nvSpPr>
          <p:cNvPr id="20" name="Shape 18"/>
          <p:cNvSpPr/>
          <p:nvPr/>
        </p:nvSpPr>
        <p:spPr>
          <a:xfrm>
            <a:off x="548640" y="3255264"/>
            <a:ext cx="5074920" cy="566928"/>
          </a:xfrm>
          <a:prstGeom prst="roundRect">
            <a:avLst>
              <a:gd name="adj" fmla="val 12903"/>
            </a:avLst>
          </a:prstGeom>
          <a:solidFill>
            <a:srgbClr val="FFFFFF"/>
          </a:solidFill>
          <a:ln w="12700">
            <a:solidFill>
              <a:srgbClr val="E2E7F0"/>
            </a:solidFill>
            <a:prstDash val="solid"/>
          </a:ln>
          <a:effectLst>
            <a:outerShdw blurRad="76200" dist="25400" dir="5400000" algn="bl" rotWithShape="0">
              <a:srgbClr val="1B2A46">
                <a:alpha val="12000"/>
              </a:srgbClr>
            </a:outerShdw>
          </a:effectLst>
        </p:spPr>
        <p:txBody>
          <a:bodyPr/>
          <a:lstStyle/>
          <a:p>
            <a:endParaRPr lang="en-US"/>
          </a:p>
        </p:txBody>
      </p:sp>
      <p:sp>
        <p:nvSpPr>
          <p:cNvPr id="21" name="Shape 19"/>
          <p:cNvSpPr/>
          <p:nvPr/>
        </p:nvSpPr>
        <p:spPr>
          <a:xfrm>
            <a:off x="685800" y="3383280"/>
            <a:ext cx="310896" cy="310896"/>
          </a:xfrm>
          <a:prstGeom prst="ellipse">
            <a:avLst/>
          </a:prstGeom>
          <a:solidFill>
            <a:srgbClr val="F2A93B"/>
          </a:solidFill>
          <a:ln/>
        </p:spPr>
        <p:txBody>
          <a:bodyPr/>
          <a:lstStyle/>
          <a:p>
            <a:endParaRPr lang="en-US"/>
          </a:p>
        </p:txBody>
      </p:sp>
      <p:sp>
        <p:nvSpPr>
          <p:cNvPr id="22" name="Text 20"/>
          <p:cNvSpPr/>
          <p:nvPr/>
        </p:nvSpPr>
        <p:spPr>
          <a:xfrm>
            <a:off x="685800" y="3383280"/>
            <a:ext cx="310896" cy="310896"/>
          </a:xfrm>
          <a:prstGeom prst="rect">
            <a:avLst/>
          </a:prstGeom>
          <a:noFill/>
          <a:ln/>
        </p:spPr>
        <p:txBody>
          <a:bodyPr wrap="square" rtlCol="0" anchor="ctr"/>
          <a:lstStyle/>
          <a:p>
            <a:pPr marL="0" indent="0" algn="ctr">
              <a:buNone/>
            </a:pPr>
            <a:r>
              <a:rPr lang="en-US" sz="1300" b="1" dirty="0">
                <a:solidFill>
                  <a:srgbClr val="0B1626"/>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15568" y="3255264"/>
            <a:ext cx="4389120" cy="566928"/>
          </a:xfrm>
          <a:prstGeom prst="rect">
            <a:avLst/>
          </a:prstGeom>
          <a:noFill/>
          <a:ln/>
        </p:spPr>
        <p:txBody>
          <a:bodyPr wrap="square" rtlCol="0" anchor="ctr"/>
          <a:lstStyle/>
          <a:p>
            <a:pPr marL="0" indent="0">
              <a:buNone/>
            </a:pPr>
            <a:r>
              <a:rPr lang="en-US" sz="1300" b="1" dirty="0">
                <a:solidFill>
                  <a:srgbClr val="0B1626"/>
                </a:solidFill>
                <a:latin typeface="Calibri" pitchFamily="34" charset="0"/>
                <a:ea typeface="Calibri" pitchFamily="34" charset="-122"/>
                <a:cs typeface="Calibri" pitchFamily="34" charset="-120"/>
              </a:rPr>
              <a:t>Event, suspicious activity, or confirmed incident?</a:t>
            </a:r>
            <a:endParaRPr lang="en-US" sz="1300" dirty="0"/>
          </a:p>
        </p:txBody>
      </p:sp>
      <p:sp>
        <p:nvSpPr>
          <p:cNvPr id="24" name="Shape 22"/>
          <p:cNvSpPr/>
          <p:nvPr/>
        </p:nvSpPr>
        <p:spPr>
          <a:xfrm>
            <a:off x="5989320" y="3255264"/>
            <a:ext cx="5074920" cy="566928"/>
          </a:xfrm>
          <a:prstGeom prst="roundRect">
            <a:avLst>
              <a:gd name="adj" fmla="val 12903"/>
            </a:avLst>
          </a:prstGeom>
          <a:solidFill>
            <a:srgbClr val="FFFFFF"/>
          </a:solidFill>
          <a:ln w="12700">
            <a:solidFill>
              <a:srgbClr val="E2E7F0"/>
            </a:solidFill>
            <a:prstDash val="solid"/>
          </a:ln>
          <a:effectLst>
            <a:outerShdw blurRad="76200" dist="25400" dir="5400000" algn="bl" rotWithShape="0">
              <a:srgbClr val="1B2A46">
                <a:alpha val="12000"/>
              </a:srgbClr>
            </a:outerShdw>
          </a:effectLst>
        </p:spPr>
        <p:txBody>
          <a:bodyPr/>
          <a:lstStyle/>
          <a:p>
            <a:endParaRPr lang="en-US"/>
          </a:p>
        </p:txBody>
      </p:sp>
      <p:sp>
        <p:nvSpPr>
          <p:cNvPr id="25" name="Shape 23"/>
          <p:cNvSpPr/>
          <p:nvPr/>
        </p:nvSpPr>
        <p:spPr>
          <a:xfrm>
            <a:off x="6126480" y="3383280"/>
            <a:ext cx="310896" cy="310896"/>
          </a:xfrm>
          <a:prstGeom prst="ellipse">
            <a:avLst/>
          </a:prstGeom>
          <a:solidFill>
            <a:srgbClr val="F2A93B"/>
          </a:solidFill>
          <a:ln/>
        </p:spPr>
        <p:txBody>
          <a:bodyPr/>
          <a:lstStyle/>
          <a:p>
            <a:endParaRPr lang="en-US"/>
          </a:p>
        </p:txBody>
      </p:sp>
      <p:sp>
        <p:nvSpPr>
          <p:cNvPr id="26" name="Text 24"/>
          <p:cNvSpPr/>
          <p:nvPr/>
        </p:nvSpPr>
        <p:spPr>
          <a:xfrm>
            <a:off x="6126480" y="3383280"/>
            <a:ext cx="310896" cy="310896"/>
          </a:xfrm>
          <a:prstGeom prst="rect">
            <a:avLst/>
          </a:prstGeom>
          <a:noFill/>
          <a:ln/>
        </p:spPr>
        <p:txBody>
          <a:bodyPr wrap="square" rtlCol="0" anchor="ctr"/>
          <a:lstStyle/>
          <a:p>
            <a:pPr marL="0" indent="0" algn="ctr">
              <a:buNone/>
            </a:pPr>
            <a:r>
              <a:rPr lang="en-US" sz="1300" b="1" dirty="0">
                <a:solidFill>
                  <a:srgbClr val="0B1626"/>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6556248" y="3255264"/>
            <a:ext cx="4389120" cy="566928"/>
          </a:xfrm>
          <a:prstGeom prst="rect">
            <a:avLst/>
          </a:prstGeom>
          <a:noFill/>
          <a:ln/>
        </p:spPr>
        <p:txBody>
          <a:bodyPr wrap="square" rtlCol="0" anchor="ctr"/>
          <a:lstStyle/>
          <a:p>
            <a:pPr marL="0" indent="0">
              <a:buNone/>
            </a:pPr>
            <a:r>
              <a:rPr lang="en-US" sz="1300" b="1" dirty="0">
                <a:solidFill>
                  <a:srgbClr val="0B1626"/>
                </a:solidFill>
                <a:latin typeface="Calibri" pitchFamily="34" charset="0"/>
                <a:ea typeface="Calibri" pitchFamily="34" charset="-122"/>
                <a:cs typeface="Calibri" pitchFamily="34" charset="-120"/>
              </a:rPr>
              <a:t>Which indicators are worth acting on?</a:t>
            </a:r>
            <a:endParaRPr lang="en-US" sz="1300" dirty="0"/>
          </a:p>
        </p:txBody>
      </p:sp>
      <p:sp>
        <p:nvSpPr>
          <p:cNvPr id="28" name="Shape 26"/>
          <p:cNvSpPr/>
          <p:nvPr/>
        </p:nvSpPr>
        <p:spPr>
          <a:xfrm>
            <a:off x="548640" y="3968496"/>
            <a:ext cx="5074920" cy="566928"/>
          </a:xfrm>
          <a:prstGeom prst="roundRect">
            <a:avLst>
              <a:gd name="adj" fmla="val 12903"/>
            </a:avLst>
          </a:prstGeom>
          <a:solidFill>
            <a:srgbClr val="FFFFFF"/>
          </a:solidFill>
          <a:ln w="12700">
            <a:solidFill>
              <a:srgbClr val="E2E7F0"/>
            </a:solidFill>
            <a:prstDash val="solid"/>
          </a:ln>
          <a:effectLst>
            <a:outerShdw blurRad="76200" dist="25400" dir="5400000" algn="bl" rotWithShape="0">
              <a:srgbClr val="1B2A46">
                <a:alpha val="12000"/>
              </a:srgbClr>
            </a:outerShdw>
          </a:effectLst>
        </p:spPr>
        <p:txBody>
          <a:bodyPr/>
          <a:lstStyle/>
          <a:p>
            <a:endParaRPr lang="en-US"/>
          </a:p>
        </p:txBody>
      </p:sp>
      <p:sp>
        <p:nvSpPr>
          <p:cNvPr id="29" name="Shape 27"/>
          <p:cNvSpPr/>
          <p:nvPr/>
        </p:nvSpPr>
        <p:spPr>
          <a:xfrm>
            <a:off x="685800" y="4096512"/>
            <a:ext cx="310896" cy="310896"/>
          </a:xfrm>
          <a:prstGeom prst="ellipse">
            <a:avLst/>
          </a:prstGeom>
          <a:solidFill>
            <a:srgbClr val="F2A93B"/>
          </a:solidFill>
          <a:ln/>
        </p:spPr>
        <p:txBody>
          <a:bodyPr/>
          <a:lstStyle/>
          <a:p>
            <a:endParaRPr lang="en-US"/>
          </a:p>
        </p:txBody>
      </p:sp>
      <p:sp>
        <p:nvSpPr>
          <p:cNvPr id="30" name="Text 28"/>
          <p:cNvSpPr/>
          <p:nvPr/>
        </p:nvSpPr>
        <p:spPr>
          <a:xfrm>
            <a:off x="685800" y="4096512"/>
            <a:ext cx="310896" cy="310896"/>
          </a:xfrm>
          <a:prstGeom prst="rect">
            <a:avLst/>
          </a:prstGeom>
          <a:noFill/>
          <a:ln/>
        </p:spPr>
        <p:txBody>
          <a:bodyPr wrap="square" rtlCol="0" anchor="ctr"/>
          <a:lstStyle/>
          <a:p>
            <a:pPr marL="0" indent="0" algn="ctr">
              <a:buNone/>
            </a:pPr>
            <a:r>
              <a:rPr lang="en-US" sz="1300" b="1" dirty="0">
                <a:solidFill>
                  <a:srgbClr val="0B1626"/>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1115568" y="3968496"/>
            <a:ext cx="4389120" cy="566928"/>
          </a:xfrm>
          <a:prstGeom prst="rect">
            <a:avLst/>
          </a:prstGeom>
          <a:noFill/>
          <a:ln/>
        </p:spPr>
        <p:txBody>
          <a:bodyPr wrap="square" rtlCol="0" anchor="ctr"/>
          <a:lstStyle/>
          <a:p>
            <a:pPr marL="0" indent="0">
              <a:buNone/>
            </a:pPr>
            <a:r>
              <a:rPr lang="en-US" sz="1300" b="1" dirty="0">
                <a:solidFill>
                  <a:srgbClr val="0B1626"/>
                </a:solidFill>
                <a:latin typeface="Calibri" pitchFamily="34" charset="0"/>
                <a:ea typeface="Calibri" pitchFamily="34" charset="-122"/>
                <a:cs typeface="Calibri" pitchFamily="34" charset="-120"/>
              </a:rPr>
              <a:t>What should be contained first?</a:t>
            </a:r>
            <a:endParaRPr lang="en-US" sz="1300" dirty="0"/>
          </a:p>
        </p:txBody>
      </p:sp>
      <p:sp>
        <p:nvSpPr>
          <p:cNvPr id="32" name="Text 30"/>
          <p:cNvSpPr/>
          <p:nvPr/>
        </p:nvSpPr>
        <p:spPr>
          <a:xfrm>
            <a:off x="548640" y="5806440"/>
            <a:ext cx="10515600" cy="548640"/>
          </a:xfrm>
          <a:prstGeom prst="rect">
            <a:avLst/>
          </a:prstGeom>
          <a:noFill/>
          <a:ln/>
        </p:spPr>
        <p:txBody>
          <a:bodyPr wrap="square" rtlCol="0" anchor="ctr"/>
          <a:lstStyle/>
          <a:p>
            <a:pPr marL="0" indent="0">
              <a:buNone/>
            </a:pPr>
            <a:r>
              <a:rPr lang="en-US" sz="1250" i="1" dirty="0">
                <a:solidFill>
                  <a:srgbClr val="5B6B85"/>
                </a:solidFill>
                <a:latin typeface="Calibri" pitchFamily="34" charset="0"/>
                <a:ea typeface="Calibri" pitchFamily="34" charset="-122"/>
                <a:cs typeface="Calibri" pitchFamily="34" charset="-120"/>
              </a:rPr>
              <a:t>Threat intel lens: never trust an IoC blindly — compare internal observations against provided intelligence and judge relevance, age, and confidence.</a:t>
            </a:r>
            <a:endParaRPr lang="en-US" sz="1250" dirty="0"/>
          </a:p>
        </p:txBody>
      </p:sp>
      <p:sp>
        <p:nvSpPr>
          <p:cNvPr id="34" name="Text 32"/>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9AA7BB"/>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14BE9ED-2A0B-897F-F423-BFF4B9BBD547}"/>
              </a:ext>
            </a:extLst>
          </p:cNvPr>
          <p:cNvGrpSpPr/>
          <p:nvPr/>
        </p:nvGrpSpPr>
        <p:grpSpPr>
          <a:xfrm>
            <a:off x="140793" y="877330"/>
            <a:ext cx="11910413" cy="5897956"/>
            <a:chOff x="0" y="0"/>
            <a:chExt cx="20432187" cy="10557913"/>
          </a:xfrm>
        </p:grpSpPr>
        <p:grpSp>
          <p:nvGrpSpPr>
            <p:cNvPr id="4" name="Group 3">
              <a:extLst>
                <a:ext uri="{FF2B5EF4-FFF2-40B4-BE49-F238E27FC236}">
                  <a16:creationId xmlns:a16="http://schemas.microsoft.com/office/drawing/2014/main" id="{C5FE8E85-5A57-E9E4-732F-68F42C4790EF}"/>
                </a:ext>
              </a:extLst>
            </p:cNvPr>
            <p:cNvGrpSpPr/>
            <p:nvPr/>
          </p:nvGrpSpPr>
          <p:grpSpPr>
            <a:xfrm>
              <a:off x="0" y="0"/>
              <a:ext cx="9752973" cy="10557913"/>
              <a:chOff x="0" y="0"/>
              <a:chExt cx="1399783" cy="1515311"/>
            </a:xfrm>
          </p:grpSpPr>
          <p:sp>
            <p:nvSpPr>
              <p:cNvPr id="8" name="Freeform 4">
                <a:extLst>
                  <a:ext uri="{FF2B5EF4-FFF2-40B4-BE49-F238E27FC236}">
                    <a16:creationId xmlns:a16="http://schemas.microsoft.com/office/drawing/2014/main" id="{C4027362-DC21-A402-9683-BCD62AE65894}"/>
                  </a:ext>
                </a:extLst>
              </p:cNvPr>
              <p:cNvSpPr/>
              <p:nvPr/>
            </p:nvSpPr>
            <p:spPr>
              <a:xfrm>
                <a:off x="0" y="0"/>
                <a:ext cx="1399783" cy="1515311"/>
              </a:xfrm>
              <a:custGeom>
                <a:avLst/>
                <a:gdLst/>
                <a:ahLst/>
                <a:cxnLst/>
                <a:rect l="l" t="t" r="r" b="b"/>
                <a:pathLst>
                  <a:path w="1399783" h="1515311">
                    <a:moveTo>
                      <a:pt x="0" y="0"/>
                    </a:moveTo>
                    <a:lnTo>
                      <a:pt x="1399783" y="0"/>
                    </a:lnTo>
                    <a:lnTo>
                      <a:pt x="1399783" y="1515311"/>
                    </a:lnTo>
                    <a:lnTo>
                      <a:pt x="0" y="1515311"/>
                    </a:lnTo>
                    <a:close/>
                  </a:path>
                </a:pathLst>
              </a:custGeom>
              <a:solidFill>
                <a:srgbClr val="000000"/>
              </a:solidFill>
              <a:ln w="9525" cap="sq">
                <a:solidFill>
                  <a:srgbClr val="DFDEE0"/>
                </a:solidFill>
                <a:prstDash val="solid"/>
                <a:miter/>
              </a:ln>
            </p:spPr>
            <p:txBody>
              <a:bodyPr/>
              <a:lstStyle/>
              <a:p>
                <a:endParaRPr lang="en-MY"/>
              </a:p>
            </p:txBody>
          </p:sp>
          <p:sp>
            <p:nvSpPr>
              <p:cNvPr id="9" name="TextBox 5">
                <a:extLst>
                  <a:ext uri="{FF2B5EF4-FFF2-40B4-BE49-F238E27FC236}">
                    <a16:creationId xmlns:a16="http://schemas.microsoft.com/office/drawing/2014/main" id="{E84C2400-4721-2E34-44A4-31DE8A685FEA}"/>
                  </a:ext>
                </a:extLst>
              </p:cNvPr>
              <p:cNvSpPr txBox="1"/>
              <p:nvPr/>
            </p:nvSpPr>
            <p:spPr>
              <a:xfrm>
                <a:off x="0" y="-38100"/>
                <a:ext cx="1399783" cy="1553411"/>
              </a:xfrm>
              <a:prstGeom prst="rect">
                <a:avLst/>
              </a:prstGeom>
            </p:spPr>
            <p:txBody>
              <a:bodyPr lIns="50800" tIns="50800" rIns="50800" bIns="50800" rtlCol="0" anchor="ctr"/>
              <a:lstStyle/>
              <a:p>
                <a:pPr algn="ctr">
                  <a:lnSpc>
                    <a:spcPts val="2800"/>
                  </a:lnSpc>
                </a:pPr>
                <a:endParaRPr/>
              </a:p>
            </p:txBody>
          </p:sp>
        </p:grpSp>
        <p:grpSp>
          <p:nvGrpSpPr>
            <p:cNvPr id="5" name="Group 6">
              <a:extLst>
                <a:ext uri="{FF2B5EF4-FFF2-40B4-BE49-F238E27FC236}">
                  <a16:creationId xmlns:a16="http://schemas.microsoft.com/office/drawing/2014/main" id="{AF5DA19A-3290-A19B-66EB-0227ECC72317}"/>
                </a:ext>
              </a:extLst>
            </p:cNvPr>
            <p:cNvGrpSpPr/>
            <p:nvPr/>
          </p:nvGrpSpPr>
          <p:grpSpPr>
            <a:xfrm>
              <a:off x="10679214" y="0"/>
              <a:ext cx="9752973" cy="10557913"/>
              <a:chOff x="0" y="0"/>
              <a:chExt cx="1399783" cy="1515311"/>
            </a:xfrm>
          </p:grpSpPr>
          <p:sp>
            <p:nvSpPr>
              <p:cNvPr id="6" name="Freeform 7">
                <a:extLst>
                  <a:ext uri="{FF2B5EF4-FFF2-40B4-BE49-F238E27FC236}">
                    <a16:creationId xmlns:a16="http://schemas.microsoft.com/office/drawing/2014/main" id="{045CE1AA-46E7-0417-2BBA-903A3E76CD6B}"/>
                  </a:ext>
                </a:extLst>
              </p:cNvPr>
              <p:cNvSpPr/>
              <p:nvPr/>
            </p:nvSpPr>
            <p:spPr>
              <a:xfrm>
                <a:off x="0" y="0"/>
                <a:ext cx="1399783" cy="1515311"/>
              </a:xfrm>
              <a:custGeom>
                <a:avLst/>
                <a:gdLst/>
                <a:ahLst/>
                <a:cxnLst/>
                <a:rect l="l" t="t" r="r" b="b"/>
                <a:pathLst>
                  <a:path w="1399783" h="1515311">
                    <a:moveTo>
                      <a:pt x="0" y="0"/>
                    </a:moveTo>
                    <a:lnTo>
                      <a:pt x="1399783" y="0"/>
                    </a:lnTo>
                    <a:lnTo>
                      <a:pt x="1399783" y="1515311"/>
                    </a:lnTo>
                    <a:lnTo>
                      <a:pt x="0" y="1515311"/>
                    </a:lnTo>
                    <a:close/>
                  </a:path>
                </a:pathLst>
              </a:custGeom>
              <a:solidFill>
                <a:srgbClr val="000000"/>
              </a:solidFill>
              <a:ln w="9525" cap="sq">
                <a:solidFill>
                  <a:srgbClr val="DFDEE0"/>
                </a:solidFill>
                <a:prstDash val="solid"/>
                <a:miter/>
              </a:ln>
            </p:spPr>
            <p:txBody>
              <a:bodyPr/>
              <a:lstStyle/>
              <a:p>
                <a:endParaRPr lang="en-MY"/>
              </a:p>
            </p:txBody>
          </p:sp>
          <p:sp>
            <p:nvSpPr>
              <p:cNvPr id="7" name="TextBox 8">
                <a:extLst>
                  <a:ext uri="{FF2B5EF4-FFF2-40B4-BE49-F238E27FC236}">
                    <a16:creationId xmlns:a16="http://schemas.microsoft.com/office/drawing/2014/main" id="{150DD519-3443-E332-D354-A93D41AF553E}"/>
                  </a:ext>
                </a:extLst>
              </p:cNvPr>
              <p:cNvSpPr txBox="1"/>
              <p:nvPr/>
            </p:nvSpPr>
            <p:spPr>
              <a:xfrm>
                <a:off x="0" y="-38100"/>
                <a:ext cx="1399783" cy="1553411"/>
              </a:xfrm>
              <a:prstGeom prst="rect">
                <a:avLst/>
              </a:prstGeom>
            </p:spPr>
            <p:txBody>
              <a:bodyPr lIns="50800" tIns="50800" rIns="50800" bIns="50800" rtlCol="0" anchor="ctr"/>
              <a:lstStyle/>
              <a:p>
                <a:pPr algn="ctr">
                  <a:lnSpc>
                    <a:spcPts val="2800"/>
                  </a:lnSpc>
                </a:pPr>
                <a:endParaRPr/>
              </a:p>
            </p:txBody>
          </p:sp>
        </p:grpSp>
      </p:grpSp>
      <p:sp>
        <p:nvSpPr>
          <p:cNvPr id="11" name="Freeform 12">
            <a:extLst>
              <a:ext uri="{FF2B5EF4-FFF2-40B4-BE49-F238E27FC236}">
                <a16:creationId xmlns:a16="http://schemas.microsoft.com/office/drawing/2014/main" id="{8B903834-7DE3-EA5A-F1DA-CA4AEC02DDDD}"/>
              </a:ext>
            </a:extLst>
          </p:cNvPr>
          <p:cNvSpPr/>
          <p:nvPr/>
        </p:nvSpPr>
        <p:spPr>
          <a:xfrm>
            <a:off x="2366964" y="1296472"/>
            <a:ext cx="1232899" cy="1206677"/>
          </a:xfrm>
          <a:custGeom>
            <a:avLst/>
            <a:gdLst/>
            <a:ahLst/>
            <a:cxnLst/>
            <a:rect l="l" t="t" r="r" b="b"/>
            <a:pathLst>
              <a:path w="1389328" h="1389328">
                <a:moveTo>
                  <a:pt x="0" y="0"/>
                </a:moveTo>
                <a:lnTo>
                  <a:pt x="1389327" y="0"/>
                </a:lnTo>
                <a:lnTo>
                  <a:pt x="1389327" y="1389328"/>
                </a:lnTo>
                <a:lnTo>
                  <a:pt x="0" y="1389328"/>
                </a:lnTo>
                <a:lnTo>
                  <a:pt x="0" y="0"/>
                </a:lnTo>
                <a:close/>
              </a:path>
            </a:pathLst>
          </a:custGeom>
          <a:blipFill>
            <a:blip r:embed="rId2"/>
            <a:stretch>
              <a:fillRect/>
            </a:stretch>
          </a:blipFill>
        </p:spPr>
        <p:txBody>
          <a:bodyPr/>
          <a:lstStyle/>
          <a:p>
            <a:endParaRPr lang="en-MY"/>
          </a:p>
        </p:txBody>
      </p:sp>
      <p:sp>
        <p:nvSpPr>
          <p:cNvPr id="12" name="TextBox 13">
            <a:extLst>
              <a:ext uri="{FF2B5EF4-FFF2-40B4-BE49-F238E27FC236}">
                <a16:creationId xmlns:a16="http://schemas.microsoft.com/office/drawing/2014/main" id="{94D590D8-9800-0D04-9190-339BEC5C8AD0}"/>
              </a:ext>
            </a:extLst>
          </p:cNvPr>
          <p:cNvSpPr txBox="1"/>
          <p:nvPr/>
        </p:nvSpPr>
        <p:spPr>
          <a:xfrm>
            <a:off x="315039" y="2662050"/>
            <a:ext cx="5336750" cy="1077218"/>
          </a:xfrm>
          <a:prstGeom prst="rect">
            <a:avLst/>
          </a:prstGeom>
        </p:spPr>
        <p:txBody>
          <a:bodyPr wrap="square" lIns="0" tIns="0" rIns="0" bIns="0" rtlCol="0" anchor="t">
            <a:spAutoFit/>
          </a:bodyPr>
          <a:lstStyle/>
          <a:p>
            <a:pPr algn="ctr"/>
            <a:r>
              <a:rPr lang="en-US" sz="1400" b="1" dirty="0">
                <a:solidFill>
                  <a:srgbClr val="FF0000"/>
                </a:solidFill>
                <a:latin typeface="Helios Extended Bold"/>
                <a:ea typeface="Helios Extended Bold"/>
                <a:cs typeface="Helios Extended Bold"/>
                <a:sym typeface="Helios Extended Bold"/>
              </a:rPr>
              <a:t>IOA</a:t>
            </a:r>
            <a:r>
              <a:rPr lang="en-US" sz="1400" dirty="0">
                <a:solidFill>
                  <a:srgbClr val="FFFFFF"/>
                </a:solidFill>
                <a:latin typeface="Helios Extended"/>
                <a:ea typeface="Helios Extended"/>
                <a:cs typeface="Helios Extended"/>
                <a:sym typeface="Helios Extended"/>
              </a:rPr>
              <a:t> </a:t>
            </a:r>
          </a:p>
          <a:p>
            <a:pPr marL="342949" lvl="1" indent="-171475" algn="l">
              <a:buFont typeface="Arial"/>
              <a:buChar char="•"/>
            </a:pPr>
            <a:r>
              <a:rPr lang="en-US" sz="1400" dirty="0">
                <a:solidFill>
                  <a:srgbClr val="FFFFFF"/>
                </a:solidFill>
                <a:latin typeface="Helios Extended"/>
                <a:ea typeface="Helios Extended"/>
                <a:cs typeface="Helios Extended"/>
                <a:sym typeface="Helios Extended"/>
              </a:rPr>
              <a:t>Detecting the intention of the attacker whether it has gained or attempting to gain access to the environment.</a:t>
            </a:r>
          </a:p>
          <a:p>
            <a:pPr marL="342949" lvl="1" indent="-171475" algn="l">
              <a:buFont typeface="Arial"/>
              <a:buChar char="•"/>
            </a:pPr>
            <a:r>
              <a:rPr lang="en-US" sz="1400" dirty="0">
                <a:solidFill>
                  <a:srgbClr val="FFFFFF"/>
                </a:solidFill>
                <a:latin typeface="Helios Extended"/>
                <a:ea typeface="Helios Extended"/>
                <a:cs typeface="Helios Extended"/>
                <a:sym typeface="Helios Extended"/>
              </a:rPr>
              <a:t>Unexpected file or processes, registry changes or configuration changes &amp; unusual pattern of network traffic</a:t>
            </a:r>
          </a:p>
        </p:txBody>
      </p:sp>
      <p:sp>
        <p:nvSpPr>
          <p:cNvPr id="13" name="TextBox 14">
            <a:extLst>
              <a:ext uri="{FF2B5EF4-FFF2-40B4-BE49-F238E27FC236}">
                <a16:creationId xmlns:a16="http://schemas.microsoft.com/office/drawing/2014/main" id="{29BA06F3-4472-A1CD-C7E5-CB203CDDCAE4}"/>
              </a:ext>
            </a:extLst>
          </p:cNvPr>
          <p:cNvSpPr txBox="1"/>
          <p:nvPr/>
        </p:nvSpPr>
        <p:spPr>
          <a:xfrm>
            <a:off x="140793" y="186298"/>
            <a:ext cx="5510996" cy="584846"/>
          </a:xfrm>
          <a:prstGeom prst="rect">
            <a:avLst/>
          </a:prstGeom>
        </p:spPr>
        <p:txBody>
          <a:bodyPr wrap="square" lIns="0" tIns="0" rIns="0" bIns="0" rtlCol="0" anchor="t">
            <a:spAutoFit/>
          </a:bodyPr>
          <a:lstStyle/>
          <a:p>
            <a:pPr algn="ctr">
              <a:lnSpc>
                <a:spcPts val="4694"/>
              </a:lnSpc>
            </a:pPr>
            <a:r>
              <a:rPr lang="en-US" sz="3353" b="1" dirty="0">
                <a:solidFill>
                  <a:srgbClr val="FF0000"/>
                </a:solidFill>
                <a:latin typeface="Canva Sans Bold"/>
                <a:ea typeface="Canva Sans Bold"/>
                <a:cs typeface="Canva Sans Bold"/>
                <a:sym typeface="Canva Sans Bold"/>
              </a:rPr>
              <a:t>INDICATOR OF ATTACK</a:t>
            </a:r>
          </a:p>
        </p:txBody>
      </p:sp>
      <p:sp>
        <p:nvSpPr>
          <p:cNvPr id="14" name="Freeform 15">
            <a:extLst>
              <a:ext uri="{FF2B5EF4-FFF2-40B4-BE49-F238E27FC236}">
                <a16:creationId xmlns:a16="http://schemas.microsoft.com/office/drawing/2014/main" id="{05F7A665-3FA2-EC3A-C842-24D2898A2AA8}"/>
              </a:ext>
            </a:extLst>
          </p:cNvPr>
          <p:cNvSpPr/>
          <p:nvPr/>
        </p:nvSpPr>
        <p:spPr>
          <a:xfrm>
            <a:off x="8573662" y="1296472"/>
            <a:ext cx="1232899" cy="1206677"/>
          </a:xfrm>
          <a:custGeom>
            <a:avLst/>
            <a:gdLst/>
            <a:ahLst/>
            <a:cxnLst/>
            <a:rect l="l" t="t" r="r" b="b"/>
            <a:pathLst>
              <a:path w="1389328" h="1389328">
                <a:moveTo>
                  <a:pt x="0" y="0"/>
                </a:moveTo>
                <a:lnTo>
                  <a:pt x="1389328" y="0"/>
                </a:lnTo>
                <a:lnTo>
                  <a:pt x="1389328" y="1389328"/>
                </a:lnTo>
                <a:lnTo>
                  <a:pt x="0" y="1389328"/>
                </a:lnTo>
                <a:lnTo>
                  <a:pt x="0" y="0"/>
                </a:lnTo>
                <a:close/>
              </a:path>
            </a:pathLst>
          </a:custGeom>
          <a:blipFill>
            <a:blip r:embed="rId3"/>
            <a:stretch>
              <a:fillRect/>
            </a:stretch>
          </a:blipFill>
        </p:spPr>
        <p:txBody>
          <a:bodyPr/>
          <a:lstStyle/>
          <a:p>
            <a:endParaRPr lang="en-MY"/>
          </a:p>
        </p:txBody>
      </p:sp>
      <p:sp>
        <p:nvSpPr>
          <p:cNvPr id="15" name="TextBox 16">
            <a:extLst>
              <a:ext uri="{FF2B5EF4-FFF2-40B4-BE49-F238E27FC236}">
                <a16:creationId xmlns:a16="http://schemas.microsoft.com/office/drawing/2014/main" id="{2C15D6D0-0DDE-EC71-4C37-741A7079633F}"/>
              </a:ext>
            </a:extLst>
          </p:cNvPr>
          <p:cNvSpPr txBox="1"/>
          <p:nvPr/>
        </p:nvSpPr>
        <p:spPr>
          <a:xfrm>
            <a:off x="6540210" y="2662050"/>
            <a:ext cx="5336750" cy="861774"/>
          </a:xfrm>
          <a:prstGeom prst="rect">
            <a:avLst/>
          </a:prstGeom>
        </p:spPr>
        <p:txBody>
          <a:bodyPr wrap="square" lIns="0" tIns="0" rIns="0" bIns="0" rtlCol="0" anchor="t">
            <a:spAutoFit/>
          </a:bodyPr>
          <a:lstStyle/>
          <a:p>
            <a:pPr algn="ctr"/>
            <a:r>
              <a:rPr lang="en-US" sz="1400" b="1" dirty="0">
                <a:solidFill>
                  <a:srgbClr val="FF0000"/>
                </a:solidFill>
                <a:latin typeface="Helios Extended Bold"/>
                <a:ea typeface="Helios Extended Bold"/>
                <a:cs typeface="Helios Extended Bold"/>
                <a:sym typeface="Helios Extended Bold"/>
              </a:rPr>
              <a:t>IOC</a:t>
            </a:r>
            <a:r>
              <a:rPr lang="en-US" sz="1400" dirty="0">
                <a:solidFill>
                  <a:srgbClr val="FFFFFF"/>
                </a:solidFill>
                <a:latin typeface="Helios Extended"/>
                <a:ea typeface="Helios Extended"/>
                <a:cs typeface="Helios Extended"/>
                <a:sym typeface="Helios Extended"/>
              </a:rPr>
              <a:t> </a:t>
            </a:r>
          </a:p>
          <a:p>
            <a:pPr marL="342949" lvl="1" indent="-171475" algn="l">
              <a:buFont typeface="Arial"/>
              <a:buChar char="•"/>
            </a:pPr>
            <a:r>
              <a:rPr lang="en-US" sz="1400" dirty="0">
                <a:solidFill>
                  <a:srgbClr val="FFFFFF"/>
                </a:solidFill>
                <a:latin typeface="Helios Extended"/>
                <a:ea typeface="Helios Extended"/>
                <a:cs typeface="Helios Extended"/>
                <a:sym typeface="Helios Extended"/>
              </a:rPr>
              <a:t>Evidence that a malicious entity has successfully gained access to the environment.</a:t>
            </a:r>
          </a:p>
          <a:p>
            <a:pPr marL="342949" lvl="1" indent="-171475" algn="l">
              <a:buFont typeface="Arial"/>
              <a:buChar char="•"/>
            </a:pPr>
            <a:r>
              <a:rPr lang="en-US" sz="1400" dirty="0">
                <a:solidFill>
                  <a:srgbClr val="FFFFFF"/>
                </a:solidFill>
                <a:latin typeface="Helios Extended"/>
                <a:ea typeface="Helios Extended"/>
                <a:cs typeface="Helios Extended"/>
                <a:sym typeface="Helios Extended"/>
              </a:rPr>
              <a:t>Hash value, IP addresses, Signatures, Vulnerability exploitation</a:t>
            </a:r>
          </a:p>
        </p:txBody>
      </p:sp>
      <p:sp>
        <p:nvSpPr>
          <p:cNvPr id="16" name="TextBox 17">
            <a:extLst>
              <a:ext uri="{FF2B5EF4-FFF2-40B4-BE49-F238E27FC236}">
                <a16:creationId xmlns:a16="http://schemas.microsoft.com/office/drawing/2014/main" id="{8538EB0D-EA65-0C2D-1D83-141F5E7BD1D1}"/>
              </a:ext>
            </a:extLst>
          </p:cNvPr>
          <p:cNvSpPr txBox="1"/>
          <p:nvPr/>
        </p:nvSpPr>
        <p:spPr>
          <a:xfrm>
            <a:off x="6365963" y="186298"/>
            <a:ext cx="5666769" cy="584846"/>
          </a:xfrm>
          <a:prstGeom prst="rect">
            <a:avLst/>
          </a:prstGeom>
        </p:spPr>
        <p:txBody>
          <a:bodyPr wrap="square" lIns="0" tIns="0" rIns="0" bIns="0" rtlCol="0" anchor="t">
            <a:spAutoFit/>
          </a:bodyPr>
          <a:lstStyle/>
          <a:p>
            <a:pPr algn="ctr">
              <a:lnSpc>
                <a:spcPts val="4694"/>
              </a:lnSpc>
            </a:pPr>
            <a:r>
              <a:rPr lang="en-US" sz="3353" b="1" dirty="0">
                <a:solidFill>
                  <a:srgbClr val="FF0000"/>
                </a:solidFill>
                <a:latin typeface="Canva Sans Bold"/>
                <a:ea typeface="Canva Sans Bold"/>
                <a:cs typeface="Canva Sans Bold"/>
                <a:sym typeface="Canva Sans Bold"/>
              </a:rPr>
              <a:t>INDICATOR OF COMROMISED</a:t>
            </a:r>
          </a:p>
        </p:txBody>
      </p:sp>
      <p:sp>
        <p:nvSpPr>
          <p:cNvPr id="17" name="Freeform 18">
            <a:extLst>
              <a:ext uri="{FF2B5EF4-FFF2-40B4-BE49-F238E27FC236}">
                <a16:creationId xmlns:a16="http://schemas.microsoft.com/office/drawing/2014/main" id="{B7BB04DF-2B98-902A-6463-806DEC182131}"/>
              </a:ext>
            </a:extLst>
          </p:cNvPr>
          <p:cNvSpPr/>
          <p:nvPr/>
        </p:nvSpPr>
        <p:spPr>
          <a:xfrm>
            <a:off x="315039" y="4242424"/>
            <a:ext cx="5336750" cy="1347645"/>
          </a:xfrm>
          <a:custGeom>
            <a:avLst/>
            <a:gdLst/>
            <a:ahLst/>
            <a:cxnLst/>
            <a:rect l="l" t="t" r="r" b="b"/>
            <a:pathLst>
              <a:path w="6763960" h="1479616">
                <a:moveTo>
                  <a:pt x="0" y="0"/>
                </a:moveTo>
                <a:lnTo>
                  <a:pt x="6763960" y="0"/>
                </a:lnTo>
                <a:lnTo>
                  <a:pt x="6763960" y="1479617"/>
                </a:lnTo>
                <a:lnTo>
                  <a:pt x="0" y="1479617"/>
                </a:lnTo>
                <a:lnTo>
                  <a:pt x="0" y="0"/>
                </a:lnTo>
                <a:close/>
              </a:path>
            </a:pathLst>
          </a:custGeom>
          <a:blipFill>
            <a:blip r:embed="rId4"/>
            <a:stretch>
              <a:fillRect/>
            </a:stretch>
          </a:blipFill>
        </p:spPr>
        <p:txBody>
          <a:bodyPr/>
          <a:lstStyle/>
          <a:p>
            <a:endParaRPr lang="en-MY"/>
          </a:p>
        </p:txBody>
      </p:sp>
      <p:sp>
        <p:nvSpPr>
          <p:cNvPr id="18" name="Freeform 19">
            <a:extLst>
              <a:ext uri="{FF2B5EF4-FFF2-40B4-BE49-F238E27FC236}">
                <a16:creationId xmlns:a16="http://schemas.microsoft.com/office/drawing/2014/main" id="{D74E83BD-FD04-5CF9-6010-055DC6BF9EED}"/>
              </a:ext>
            </a:extLst>
          </p:cNvPr>
          <p:cNvSpPr/>
          <p:nvPr/>
        </p:nvSpPr>
        <p:spPr>
          <a:xfrm>
            <a:off x="315039" y="5759754"/>
            <a:ext cx="5336750" cy="768637"/>
          </a:xfrm>
          <a:custGeom>
            <a:avLst/>
            <a:gdLst/>
            <a:ahLst/>
            <a:cxnLst/>
            <a:rect l="l" t="t" r="r" b="b"/>
            <a:pathLst>
              <a:path w="6763960" h="946954">
                <a:moveTo>
                  <a:pt x="0" y="0"/>
                </a:moveTo>
                <a:lnTo>
                  <a:pt x="6763960" y="0"/>
                </a:lnTo>
                <a:lnTo>
                  <a:pt x="6763960" y="946954"/>
                </a:lnTo>
                <a:lnTo>
                  <a:pt x="0" y="946954"/>
                </a:lnTo>
                <a:lnTo>
                  <a:pt x="0" y="0"/>
                </a:lnTo>
                <a:close/>
              </a:path>
            </a:pathLst>
          </a:custGeom>
          <a:blipFill>
            <a:blip r:embed="rId5"/>
            <a:stretch>
              <a:fillRect/>
            </a:stretch>
          </a:blipFill>
        </p:spPr>
        <p:txBody>
          <a:bodyPr/>
          <a:lstStyle/>
          <a:p>
            <a:endParaRPr lang="en-MY"/>
          </a:p>
        </p:txBody>
      </p:sp>
      <p:sp>
        <p:nvSpPr>
          <p:cNvPr id="19" name="Freeform 20">
            <a:extLst>
              <a:ext uri="{FF2B5EF4-FFF2-40B4-BE49-F238E27FC236}">
                <a16:creationId xmlns:a16="http://schemas.microsoft.com/office/drawing/2014/main" id="{B9238FDD-0394-5E6E-3606-61E1B6F2CC6D}"/>
              </a:ext>
            </a:extLst>
          </p:cNvPr>
          <p:cNvSpPr/>
          <p:nvPr/>
        </p:nvSpPr>
        <p:spPr>
          <a:xfrm>
            <a:off x="6540210" y="4242424"/>
            <a:ext cx="5336750" cy="1576349"/>
          </a:xfrm>
          <a:custGeom>
            <a:avLst/>
            <a:gdLst/>
            <a:ahLst/>
            <a:cxnLst/>
            <a:rect l="l" t="t" r="r" b="b"/>
            <a:pathLst>
              <a:path w="6665642" h="1833052">
                <a:moveTo>
                  <a:pt x="0" y="0"/>
                </a:moveTo>
                <a:lnTo>
                  <a:pt x="6665642" y="0"/>
                </a:lnTo>
                <a:lnTo>
                  <a:pt x="6665642" y="1833052"/>
                </a:lnTo>
                <a:lnTo>
                  <a:pt x="0" y="1833052"/>
                </a:lnTo>
                <a:lnTo>
                  <a:pt x="0" y="0"/>
                </a:lnTo>
                <a:close/>
              </a:path>
            </a:pathLst>
          </a:custGeom>
          <a:blipFill>
            <a:blip r:embed="rId6"/>
            <a:stretch>
              <a:fillRect/>
            </a:stretch>
          </a:blipFill>
        </p:spPr>
        <p:txBody>
          <a:bodyPr/>
          <a:lstStyle/>
          <a:p>
            <a:endParaRPr lang="en-MY"/>
          </a:p>
        </p:txBody>
      </p:sp>
      <p:sp>
        <p:nvSpPr>
          <p:cNvPr id="20" name="TextBox 21">
            <a:extLst>
              <a:ext uri="{FF2B5EF4-FFF2-40B4-BE49-F238E27FC236}">
                <a16:creationId xmlns:a16="http://schemas.microsoft.com/office/drawing/2014/main" id="{F7F8C998-1772-ED3B-1814-3102A64653DE}"/>
              </a:ext>
            </a:extLst>
          </p:cNvPr>
          <p:cNvSpPr txBox="1"/>
          <p:nvPr/>
        </p:nvSpPr>
        <p:spPr>
          <a:xfrm>
            <a:off x="315039" y="3853231"/>
            <a:ext cx="1145674" cy="337015"/>
          </a:xfrm>
          <a:prstGeom prst="rect">
            <a:avLst/>
          </a:prstGeom>
        </p:spPr>
        <p:txBody>
          <a:bodyPr wrap="square" lIns="0" tIns="0" rIns="0" bIns="0" rtlCol="0" anchor="t">
            <a:spAutoFit/>
          </a:bodyPr>
          <a:lstStyle/>
          <a:p>
            <a:pPr algn="ctr">
              <a:lnSpc>
                <a:spcPts val="2800"/>
              </a:lnSpc>
            </a:pPr>
            <a:r>
              <a:rPr lang="en-US" sz="2000" b="1" dirty="0">
                <a:solidFill>
                  <a:srgbClr val="FFFFFF"/>
                </a:solidFill>
                <a:latin typeface="Canva Sans Bold"/>
                <a:ea typeface="Canva Sans Bold"/>
                <a:cs typeface="Canva Sans Bold"/>
                <a:sym typeface="Canva Sans Bold"/>
              </a:rPr>
              <a:t>EXAMPLE</a:t>
            </a:r>
          </a:p>
        </p:txBody>
      </p:sp>
      <p:sp>
        <p:nvSpPr>
          <p:cNvPr id="21" name="TextBox 22">
            <a:extLst>
              <a:ext uri="{FF2B5EF4-FFF2-40B4-BE49-F238E27FC236}">
                <a16:creationId xmlns:a16="http://schemas.microsoft.com/office/drawing/2014/main" id="{08FE9F34-CAE2-D798-ECBE-4B7A8B395DC3}"/>
              </a:ext>
            </a:extLst>
          </p:cNvPr>
          <p:cNvSpPr txBox="1"/>
          <p:nvPr/>
        </p:nvSpPr>
        <p:spPr>
          <a:xfrm>
            <a:off x="6540210" y="3853230"/>
            <a:ext cx="1145674" cy="337015"/>
          </a:xfrm>
          <a:prstGeom prst="rect">
            <a:avLst/>
          </a:prstGeom>
        </p:spPr>
        <p:txBody>
          <a:bodyPr wrap="square" lIns="0" tIns="0" rIns="0" bIns="0" rtlCol="0" anchor="t">
            <a:spAutoFit/>
          </a:bodyPr>
          <a:lstStyle/>
          <a:p>
            <a:pPr algn="ctr">
              <a:lnSpc>
                <a:spcPts val="2800"/>
              </a:lnSpc>
            </a:pPr>
            <a:r>
              <a:rPr lang="en-US" sz="2000" b="1" dirty="0">
                <a:solidFill>
                  <a:srgbClr val="FFFFFF"/>
                </a:solidFill>
                <a:latin typeface="Canva Sans Bold"/>
                <a:ea typeface="Canva Sans Bold"/>
                <a:cs typeface="Canva Sans Bold"/>
                <a:sym typeface="Canva Sans Bold"/>
              </a:rPr>
              <a:t>EXAMPLE</a:t>
            </a:r>
          </a:p>
        </p:txBody>
      </p:sp>
    </p:spTree>
    <p:extLst>
      <p:ext uri="{BB962C8B-B14F-4D97-AF65-F5344CB8AC3E}">
        <p14:creationId xmlns:p14="http://schemas.microsoft.com/office/powerpoint/2010/main" val="145112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a:extLst>
            <a:ext uri="{FF2B5EF4-FFF2-40B4-BE49-F238E27FC236}">
              <a16:creationId xmlns:a16="http://schemas.microsoft.com/office/drawing/2014/main" id="{CC451244-55BF-3AC4-E081-487CF3E320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22D14B-1CFF-C012-9C16-269394659C14}"/>
              </a:ext>
            </a:extLst>
          </p:cNvPr>
          <p:cNvSpPr/>
          <p:nvPr/>
        </p:nvSpPr>
        <p:spPr>
          <a:xfrm>
            <a:off x="548640" y="457200"/>
            <a:ext cx="9144000" cy="548640"/>
          </a:xfrm>
          <a:prstGeom prst="rect">
            <a:avLst/>
          </a:prstGeom>
          <a:noFill/>
          <a:ln/>
        </p:spPr>
        <p:txBody>
          <a:bodyPr wrap="square" rtlCol="0" anchor="ctr"/>
          <a:lstStyle/>
          <a:p>
            <a:pPr marL="0" indent="0">
              <a:buNone/>
            </a:pPr>
            <a:r>
              <a:rPr lang="en-US" sz="3000" b="1" dirty="0">
                <a:solidFill>
                  <a:srgbClr val="0B1626"/>
                </a:solidFill>
                <a:latin typeface="Cambria" pitchFamily="34" charset="0"/>
                <a:ea typeface="Cambria" pitchFamily="34" charset="-122"/>
                <a:cs typeface="Cambria" pitchFamily="34" charset="-120"/>
              </a:rPr>
              <a:t>Example</a:t>
            </a:r>
            <a:endParaRPr lang="en-US" sz="3000" dirty="0"/>
          </a:p>
        </p:txBody>
      </p:sp>
      <p:sp>
        <p:nvSpPr>
          <p:cNvPr id="3" name="Text 1">
            <a:extLst>
              <a:ext uri="{FF2B5EF4-FFF2-40B4-BE49-F238E27FC236}">
                <a16:creationId xmlns:a16="http://schemas.microsoft.com/office/drawing/2014/main" id="{54AC1087-FDB7-A0CE-ADD5-289748A8135F}"/>
              </a:ext>
            </a:extLst>
          </p:cNvPr>
          <p:cNvSpPr/>
          <p:nvPr/>
        </p:nvSpPr>
        <p:spPr>
          <a:xfrm>
            <a:off x="548640" y="1005840"/>
            <a:ext cx="10515600" cy="457200"/>
          </a:xfrm>
          <a:prstGeom prst="rect">
            <a:avLst/>
          </a:prstGeom>
          <a:noFill/>
          <a:ln/>
        </p:spPr>
        <p:txBody>
          <a:bodyPr wrap="square" rtlCol="0" anchor="ctr"/>
          <a:lstStyle/>
          <a:p>
            <a:r>
              <a:rPr lang="en-US" sz="1500" i="1" dirty="0">
                <a:latin typeface="Calibri" panose="020F0502020204030204" pitchFamily="34" charset="0"/>
                <a:cs typeface="Calibri" panose="020F0502020204030204" pitchFamily="34" charset="0"/>
              </a:rPr>
              <a:t>Your task is to extract information regarding this file:</a:t>
            </a:r>
          </a:p>
        </p:txBody>
      </p:sp>
      <p:sp>
        <p:nvSpPr>
          <p:cNvPr id="8" name="Shape 6">
            <a:extLst>
              <a:ext uri="{FF2B5EF4-FFF2-40B4-BE49-F238E27FC236}">
                <a16:creationId xmlns:a16="http://schemas.microsoft.com/office/drawing/2014/main" id="{6D10FCED-6C6F-82E1-DCE8-EE1684381233}"/>
              </a:ext>
            </a:extLst>
          </p:cNvPr>
          <p:cNvSpPr/>
          <p:nvPr/>
        </p:nvSpPr>
        <p:spPr>
          <a:xfrm>
            <a:off x="548640" y="1608460"/>
            <a:ext cx="10891993" cy="1166638"/>
          </a:xfrm>
          <a:prstGeom prst="roundRect">
            <a:avLst>
              <a:gd name="adj" fmla="val 12903"/>
            </a:avLst>
          </a:prstGeom>
          <a:solidFill>
            <a:srgbClr val="FFFFFF"/>
          </a:solidFill>
          <a:ln w="12700">
            <a:solidFill>
              <a:srgbClr val="E2E7F0"/>
            </a:solidFill>
            <a:prstDash val="solid"/>
          </a:ln>
          <a:effectLst>
            <a:outerShdw blurRad="76200" dist="25400" dir="5400000" algn="bl" rotWithShape="0">
              <a:srgbClr val="1B2A46">
                <a:alpha val="12000"/>
              </a:srgbClr>
            </a:outerShdw>
          </a:effectLst>
        </p:spPr>
        <p:txBody>
          <a:bodyPr/>
          <a:lstStyle/>
          <a:p>
            <a:endParaRPr lang="en-US"/>
          </a:p>
        </p:txBody>
      </p:sp>
      <p:sp>
        <p:nvSpPr>
          <p:cNvPr id="34" name="Text 32">
            <a:extLst>
              <a:ext uri="{FF2B5EF4-FFF2-40B4-BE49-F238E27FC236}">
                <a16:creationId xmlns:a16="http://schemas.microsoft.com/office/drawing/2014/main" id="{EAF7E800-2053-486B-1C22-F21B4E52F1B7}"/>
              </a:ext>
            </a:extLst>
          </p:cNvPr>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9AA7BB"/>
                </a:solidFill>
                <a:latin typeface="Calibri" pitchFamily="34" charset="0"/>
                <a:ea typeface="Calibri" pitchFamily="34" charset="-122"/>
                <a:cs typeface="Calibri" pitchFamily="34" charset="-120"/>
              </a:rPr>
              <a:t>Week 1 Lab</a:t>
            </a:r>
            <a:endParaRPr lang="en-US" sz="1000" dirty="0"/>
          </a:p>
        </p:txBody>
      </p:sp>
      <p:sp>
        <p:nvSpPr>
          <p:cNvPr id="5" name="Rectangle 2">
            <a:extLst>
              <a:ext uri="{FF2B5EF4-FFF2-40B4-BE49-F238E27FC236}">
                <a16:creationId xmlns:a16="http://schemas.microsoft.com/office/drawing/2014/main" id="{F8BCB592-1CB1-718A-7A24-BAC363B25E3B}"/>
              </a:ext>
            </a:extLst>
          </p:cNvPr>
          <p:cNvSpPr>
            <a:spLocks noChangeArrowheads="1"/>
          </p:cNvSpPr>
          <p:nvPr/>
        </p:nvSpPr>
        <p:spPr bwMode="auto">
          <a:xfrm>
            <a:off x="3001826" y="1930169"/>
            <a:ext cx="56092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effectLst/>
                <a:latin typeface="Source Sans Pro" panose="020B0503030403020204" pitchFamily="34" charset="0"/>
              </a:rPr>
              <a:t>f526a8ea744a8c5051deefbf2c6010af</a:t>
            </a:r>
            <a:endParaRPr kumimoji="0" lang="en-US" altLang="en-US" sz="5400" b="0" i="0" u="none" strike="noStrike" cap="none" normalizeH="0" baseline="0" dirty="0">
              <a:ln>
                <a:noFill/>
              </a:ln>
              <a:effectLst/>
              <a:latin typeface="Arial" panose="020B0604020202020204" pitchFamily="34" charset="0"/>
            </a:endParaRPr>
          </a:p>
        </p:txBody>
      </p:sp>
      <p:sp>
        <p:nvSpPr>
          <p:cNvPr id="6" name="Text 1">
            <a:extLst>
              <a:ext uri="{FF2B5EF4-FFF2-40B4-BE49-F238E27FC236}">
                <a16:creationId xmlns:a16="http://schemas.microsoft.com/office/drawing/2014/main" id="{33AE2E78-17FB-B8C7-9885-67ACA526AA0E}"/>
              </a:ext>
            </a:extLst>
          </p:cNvPr>
          <p:cNvSpPr/>
          <p:nvPr/>
        </p:nvSpPr>
        <p:spPr>
          <a:xfrm>
            <a:off x="548640" y="3096806"/>
            <a:ext cx="10515600" cy="1326337"/>
          </a:xfrm>
          <a:prstGeom prst="rect">
            <a:avLst/>
          </a:prstGeom>
          <a:noFill/>
          <a:ln/>
        </p:spPr>
        <p:txBody>
          <a:bodyPr wrap="square" rtlCol="0" anchor="ctr"/>
          <a:lstStyle/>
          <a:p>
            <a:r>
              <a:rPr lang="en-US" sz="1500" i="1" dirty="0">
                <a:latin typeface="Calibri" panose="020F0502020204030204" pitchFamily="34" charset="0"/>
                <a:cs typeface="Calibri" panose="020F0502020204030204" pitchFamily="34" charset="0"/>
              </a:rPr>
              <a:t>What to extract?</a:t>
            </a:r>
          </a:p>
          <a:p>
            <a:pPr marL="285750" indent="-285750">
              <a:buFont typeface="Arial" panose="020B0604020202020204" pitchFamily="34" charset="0"/>
              <a:buChar char="•"/>
            </a:pPr>
            <a:r>
              <a:rPr lang="en-US" sz="1500" i="1" dirty="0">
                <a:latin typeface="Calibri" panose="020F0502020204030204" pitchFamily="34" charset="0"/>
                <a:cs typeface="Calibri" panose="020F0502020204030204" pitchFamily="34" charset="0"/>
              </a:rPr>
              <a:t>IOC</a:t>
            </a:r>
          </a:p>
          <a:p>
            <a:pPr marL="285750" indent="-285750">
              <a:buFont typeface="Arial" panose="020B0604020202020204" pitchFamily="34" charset="0"/>
              <a:buChar char="•"/>
            </a:pPr>
            <a:r>
              <a:rPr lang="en-US" sz="1500" i="1" dirty="0">
                <a:latin typeface="Calibri" panose="020F0502020204030204" pitchFamily="34" charset="0"/>
                <a:cs typeface="Calibri" panose="020F0502020204030204" pitchFamily="34" charset="0"/>
              </a:rPr>
              <a:t>IOA</a:t>
            </a:r>
          </a:p>
          <a:p>
            <a:pPr marL="285750" indent="-285750">
              <a:buFont typeface="Arial" panose="020B0604020202020204" pitchFamily="34" charset="0"/>
              <a:buChar char="•"/>
            </a:pPr>
            <a:r>
              <a:rPr lang="en-US" sz="1500" i="1" dirty="0">
                <a:latin typeface="Calibri" panose="020F0502020204030204" pitchFamily="34" charset="0"/>
                <a:cs typeface="Calibri" panose="020F0502020204030204" pitchFamily="34" charset="0"/>
              </a:rPr>
              <a:t>Name of the malware?</a:t>
            </a:r>
          </a:p>
          <a:p>
            <a:pPr marL="285750" indent="-285750">
              <a:buFont typeface="Arial" panose="020B0604020202020204" pitchFamily="34" charset="0"/>
              <a:buChar char="•"/>
            </a:pPr>
            <a:r>
              <a:rPr lang="en-US" sz="1500" i="1" dirty="0">
                <a:latin typeface="Calibri" panose="020F0502020204030204" pitchFamily="34" charset="0"/>
                <a:cs typeface="Calibri" panose="020F0502020204030204" pitchFamily="34" charset="0"/>
              </a:rPr>
              <a:t>What does this malware?</a:t>
            </a:r>
          </a:p>
          <a:p>
            <a:pPr marL="285750" indent="-285750">
              <a:buFont typeface="Arial" panose="020B0604020202020204" pitchFamily="34" charset="0"/>
              <a:buChar char="•"/>
            </a:pPr>
            <a:r>
              <a:rPr lang="en-US" sz="1500" i="1" dirty="0">
                <a:latin typeface="Calibri" panose="020F0502020204030204" pitchFamily="34" charset="0"/>
                <a:cs typeface="Calibri" panose="020F0502020204030204" pitchFamily="34" charset="0"/>
              </a:rPr>
              <a:t>Targeted on what platform?</a:t>
            </a:r>
          </a:p>
        </p:txBody>
      </p:sp>
    </p:spTree>
    <p:extLst>
      <p:ext uri="{BB962C8B-B14F-4D97-AF65-F5344CB8AC3E}">
        <p14:creationId xmlns:p14="http://schemas.microsoft.com/office/powerpoint/2010/main" val="208493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626"/>
        </a:solidFill>
        <a:effectLst/>
      </p:bgPr>
    </p:bg>
    <p:spTree>
      <p:nvGrpSpPr>
        <p:cNvPr id="1" name="">
          <a:extLst>
            <a:ext uri="{FF2B5EF4-FFF2-40B4-BE49-F238E27FC236}">
              <a16:creationId xmlns:a16="http://schemas.microsoft.com/office/drawing/2014/main" id="{F229FF0C-E8ED-14ED-4C75-122F28F2CE5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6A55A2F-8AB9-EF87-0EF2-B78B6BA8BE91}"/>
              </a:ext>
            </a:extLst>
          </p:cNvPr>
          <p:cNvSpPr/>
          <p:nvPr/>
        </p:nvSpPr>
        <p:spPr>
          <a:xfrm>
            <a:off x="548640" y="45720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Scenario Context</a:t>
            </a:r>
            <a:endParaRPr lang="en-US" sz="3000" dirty="0"/>
          </a:p>
        </p:txBody>
      </p:sp>
      <p:sp>
        <p:nvSpPr>
          <p:cNvPr id="3" name="Shape 1">
            <a:extLst>
              <a:ext uri="{FF2B5EF4-FFF2-40B4-BE49-F238E27FC236}">
                <a16:creationId xmlns:a16="http://schemas.microsoft.com/office/drawing/2014/main" id="{364557BB-00BB-01FD-A54E-39D73F1F6BCB}"/>
              </a:ext>
            </a:extLst>
          </p:cNvPr>
          <p:cNvSpPr/>
          <p:nvPr/>
        </p:nvSpPr>
        <p:spPr>
          <a:xfrm>
            <a:off x="548640" y="1280160"/>
            <a:ext cx="6400800" cy="4069080"/>
          </a:xfrm>
          <a:prstGeom prst="roundRect">
            <a:avLst>
              <a:gd name="adj" fmla="val 2051"/>
            </a:avLst>
          </a:prstGeom>
          <a:solidFill>
            <a:srgbClr val="16233B"/>
          </a:solidFill>
          <a:ln/>
        </p:spPr>
        <p:txBody>
          <a:bodyPr/>
          <a:lstStyle/>
          <a:p>
            <a:endParaRPr lang="en-US"/>
          </a:p>
        </p:txBody>
      </p:sp>
      <p:sp>
        <p:nvSpPr>
          <p:cNvPr id="4" name="Text 2">
            <a:extLst>
              <a:ext uri="{FF2B5EF4-FFF2-40B4-BE49-F238E27FC236}">
                <a16:creationId xmlns:a16="http://schemas.microsoft.com/office/drawing/2014/main" id="{1D9E6036-33B3-43C0-D9F0-534A79BA8938}"/>
              </a:ext>
            </a:extLst>
          </p:cNvPr>
          <p:cNvSpPr/>
          <p:nvPr/>
        </p:nvSpPr>
        <p:spPr>
          <a:xfrm>
            <a:off x="868680" y="1508760"/>
            <a:ext cx="5760720" cy="365760"/>
          </a:xfrm>
          <a:prstGeom prst="rect">
            <a:avLst/>
          </a:prstGeom>
          <a:noFill/>
          <a:ln/>
        </p:spPr>
        <p:txBody>
          <a:bodyPr wrap="square" rtlCol="0" anchor="ctr"/>
          <a:lstStyle/>
          <a:p>
            <a:pPr marL="0" indent="0">
              <a:buNone/>
            </a:pPr>
            <a:r>
              <a:rPr lang="en-US" sz="1500" b="1" dirty="0">
                <a:solidFill>
                  <a:srgbClr val="F2A93B"/>
                </a:solidFill>
                <a:latin typeface="Calibri" pitchFamily="34" charset="0"/>
                <a:ea typeface="Calibri" pitchFamily="34" charset="-122"/>
                <a:cs typeface="Calibri" pitchFamily="34" charset="-120"/>
              </a:rPr>
              <a:t>You are the cybersecurity analyst on duty.</a:t>
            </a:r>
            <a:endParaRPr lang="en-US" sz="1500" dirty="0"/>
          </a:p>
        </p:txBody>
      </p:sp>
      <p:sp>
        <p:nvSpPr>
          <p:cNvPr id="5" name="Text 3">
            <a:extLst>
              <a:ext uri="{FF2B5EF4-FFF2-40B4-BE49-F238E27FC236}">
                <a16:creationId xmlns:a16="http://schemas.microsoft.com/office/drawing/2014/main" id="{7279892B-60E0-F4E5-8321-55F7F97C2875}"/>
              </a:ext>
            </a:extLst>
          </p:cNvPr>
          <p:cNvSpPr/>
          <p:nvPr/>
        </p:nvSpPr>
        <p:spPr>
          <a:xfrm>
            <a:off x="868680" y="1920240"/>
            <a:ext cx="5760720" cy="914400"/>
          </a:xfrm>
          <a:prstGeom prst="rect">
            <a:avLst/>
          </a:prstGeom>
          <a:noFill/>
          <a:ln/>
        </p:spPr>
        <p:txBody>
          <a:bodyPr wrap="square" rtlCol="0" anchor="t"/>
          <a:lstStyle/>
          <a:p>
            <a:pPr marL="0" indent="0">
              <a:spcAft>
                <a:spcPts val="1000"/>
              </a:spcAft>
              <a:buNone/>
            </a:pPr>
            <a:r>
              <a:rPr lang="en-US" sz="1400" dirty="0">
                <a:solidFill>
                  <a:srgbClr val="CBD9EE"/>
                </a:solidFill>
                <a:latin typeface="Calibri" pitchFamily="34" charset="0"/>
                <a:ea typeface="Calibri" pitchFamily="34" charset="-122"/>
                <a:cs typeface="Calibri" pitchFamily="34" charset="-120"/>
              </a:rPr>
              <a:t>As a cybersecurity analyst at an educational institution, you receive an alert about a phishing email targeting faculty members. The email appears to be from a trusted contact and claims a $625,000 purchase, providing a link to download an invoice.</a:t>
            </a:r>
            <a:endParaRPr lang="en-US" sz="1400" dirty="0"/>
          </a:p>
          <a:p>
            <a:pPr marL="0" indent="0">
              <a:spcAft>
                <a:spcPts val="600"/>
              </a:spcAft>
              <a:buNone/>
            </a:pPr>
            <a:r>
              <a:rPr lang="en-US" sz="1400" b="1" dirty="0">
                <a:solidFill>
                  <a:srgbClr val="CBD9EE"/>
                </a:solidFill>
                <a:latin typeface="Calibri" pitchFamily="34" charset="0"/>
                <a:ea typeface="Calibri" pitchFamily="34" charset="-122"/>
                <a:cs typeface="Calibri" pitchFamily="34" charset="-120"/>
              </a:rPr>
              <a:t>Your task is to investigate the email using Threat Intel methodology:</a:t>
            </a:r>
            <a:endParaRPr lang="en-US" sz="1400" dirty="0"/>
          </a:p>
        </p:txBody>
      </p:sp>
      <p:sp>
        <p:nvSpPr>
          <p:cNvPr id="7" name="Text 5">
            <a:extLst>
              <a:ext uri="{FF2B5EF4-FFF2-40B4-BE49-F238E27FC236}">
                <a16:creationId xmlns:a16="http://schemas.microsoft.com/office/drawing/2014/main" id="{171DD488-24F0-E04A-D6C4-AC4FB1859B2C}"/>
              </a:ext>
            </a:extLst>
          </p:cNvPr>
          <p:cNvSpPr/>
          <p:nvPr/>
        </p:nvSpPr>
        <p:spPr>
          <a:xfrm>
            <a:off x="914400" y="3314700"/>
            <a:ext cx="5394960" cy="1316306"/>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en-US" sz="1400" dirty="0">
                <a:solidFill>
                  <a:srgbClr val="FFFFFF"/>
                </a:solidFill>
                <a:latin typeface="Calibri" pitchFamily="34" charset="0"/>
                <a:ea typeface="Calibri" pitchFamily="34" charset="-122"/>
                <a:cs typeface="Calibri" pitchFamily="34" charset="-120"/>
              </a:rPr>
              <a:t>Analyze the email headers</a:t>
            </a:r>
          </a:p>
          <a:p>
            <a:pPr marL="285750" indent="-285750">
              <a:lnSpc>
                <a:spcPct val="150000"/>
              </a:lnSpc>
              <a:buFont typeface="Arial" panose="020B0604020202020204" pitchFamily="34" charset="0"/>
              <a:buChar char="•"/>
            </a:pPr>
            <a:r>
              <a:rPr lang="en-US" sz="1400" dirty="0">
                <a:solidFill>
                  <a:srgbClr val="FFFFFF"/>
                </a:solidFill>
                <a:latin typeface="Calibri" pitchFamily="34" charset="0"/>
                <a:ea typeface="Calibri" pitchFamily="34" charset="-122"/>
                <a:cs typeface="Calibri" pitchFamily="34" charset="-120"/>
              </a:rPr>
              <a:t>Inspect the link for malicious content</a:t>
            </a:r>
            <a:endParaRPr lang="en-US" sz="1400" dirty="0"/>
          </a:p>
          <a:p>
            <a:pPr marL="285750" indent="-285750">
              <a:lnSpc>
                <a:spcPct val="150000"/>
              </a:lnSpc>
              <a:buFont typeface="Arial" panose="020B0604020202020204" pitchFamily="34" charset="0"/>
              <a:buChar char="•"/>
            </a:pPr>
            <a:r>
              <a:rPr lang="en-US" sz="1400" dirty="0">
                <a:solidFill>
                  <a:srgbClr val="FFFFFF"/>
                </a:solidFill>
                <a:latin typeface="Calibri" pitchFamily="34" charset="0"/>
                <a:ea typeface="Calibri" pitchFamily="34" charset="-122"/>
                <a:cs typeface="Calibri" pitchFamily="34" charset="-120"/>
              </a:rPr>
              <a:t>Identify Indicators of Compromise (IOCs)</a:t>
            </a:r>
            <a:endParaRPr lang="en-US" sz="1400" dirty="0"/>
          </a:p>
          <a:p>
            <a:pPr marL="285750" indent="-285750">
              <a:lnSpc>
                <a:spcPct val="150000"/>
              </a:lnSpc>
              <a:buFont typeface="Arial" panose="020B0604020202020204" pitchFamily="34" charset="0"/>
              <a:buChar char="•"/>
            </a:pPr>
            <a:r>
              <a:rPr lang="en-US" sz="1400" dirty="0">
                <a:solidFill>
                  <a:srgbClr val="FFFFFF"/>
                </a:solidFill>
                <a:latin typeface="Calibri" pitchFamily="34" charset="0"/>
                <a:ea typeface="Calibri" pitchFamily="34" charset="-122"/>
                <a:cs typeface="Calibri" pitchFamily="34" charset="-120"/>
              </a:rPr>
              <a:t>Document findings to prevent fraud</a:t>
            </a:r>
            <a:endParaRPr lang="en-US" sz="1400" dirty="0"/>
          </a:p>
        </p:txBody>
      </p:sp>
      <p:sp>
        <p:nvSpPr>
          <p:cNvPr id="9" name="Text 7">
            <a:extLst>
              <a:ext uri="{FF2B5EF4-FFF2-40B4-BE49-F238E27FC236}">
                <a16:creationId xmlns:a16="http://schemas.microsoft.com/office/drawing/2014/main" id="{066CC508-5541-5333-3058-0F8F9C45CDDA}"/>
              </a:ext>
            </a:extLst>
          </p:cNvPr>
          <p:cNvSpPr/>
          <p:nvPr/>
        </p:nvSpPr>
        <p:spPr>
          <a:xfrm>
            <a:off x="1097280" y="3972328"/>
            <a:ext cx="5394960" cy="365760"/>
          </a:xfrm>
          <a:prstGeom prst="rect">
            <a:avLst/>
          </a:prstGeom>
          <a:noFill/>
          <a:ln/>
        </p:spPr>
        <p:txBody>
          <a:bodyPr wrap="square" rtlCol="0" anchor="ctr"/>
          <a:lstStyle/>
          <a:p>
            <a:pPr marL="0" indent="0">
              <a:buNone/>
            </a:pPr>
            <a:endParaRPr lang="en-US" sz="1350" dirty="0"/>
          </a:p>
        </p:txBody>
      </p:sp>
      <p:sp>
        <p:nvSpPr>
          <p:cNvPr id="11" name="Text 9">
            <a:extLst>
              <a:ext uri="{FF2B5EF4-FFF2-40B4-BE49-F238E27FC236}">
                <a16:creationId xmlns:a16="http://schemas.microsoft.com/office/drawing/2014/main" id="{9845C80B-75EB-2214-8063-BBC731D79E80}"/>
              </a:ext>
            </a:extLst>
          </p:cNvPr>
          <p:cNvSpPr/>
          <p:nvPr/>
        </p:nvSpPr>
        <p:spPr>
          <a:xfrm>
            <a:off x="1097280" y="4383808"/>
            <a:ext cx="5394960" cy="365760"/>
          </a:xfrm>
          <a:prstGeom prst="rect">
            <a:avLst/>
          </a:prstGeom>
          <a:noFill/>
          <a:ln/>
        </p:spPr>
        <p:txBody>
          <a:bodyPr wrap="square" rtlCol="0" anchor="ctr"/>
          <a:lstStyle/>
          <a:p>
            <a:pPr marL="0" indent="0">
              <a:buNone/>
            </a:pPr>
            <a:endParaRPr lang="en-US" sz="1350" dirty="0"/>
          </a:p>
        </p:txBody>
      </p:sp>
      <p:sp>
        <p:nvSpPr>
          <p:cNvPr id="13" name="Text 11">
            <a:extLst>
              <a:ext uri="{FF2B5EF4-FFF2-40B4-BE49-F238E27FC236}">
                <a16:creationId xmlns:a16="http://schemas.microsoft.com/office/drawing/2014/main" id="{D51A0B6F-3350-3CC3-3F2B-1456868B018B}"/>
              </a:ext>
            </a:extLst>
          </p:cNvPr>
          <p:cNvSpPr/>
          <p:nvPr/>
        </p:nvSpPr>
        <p:spPr>
          <a:xfrm>
            <a:off x="1097280" y="4795288"/>
            <a:ext cx="5394960" cy="365760"/>
          </a:xfrm>
          <a:prstGeom prst="rect">
            <a:avLst/>
          </a:prstGeom>
          <a:noFill/>
          <a:ln/>
        </p:spPr>
        <p:txBody>
          <a:bodyPr wrap="square" rtlCol="0" anchor="ctr"/>
          <a:lstStyle/>
          <a:p>
            <a:pPr marL="0" indent="0">
              <a:buNone/>
            </a:pPr>
            <a:endParaRPr lang="en-US" sz="1350" dirty="0"/>
          </a:p>
        </p:txBody>
      </p:sp>
      <p:sp>
        <p:nvSpPr>
          <p:cNvPr id="14" name="Text 12">
            <a:extLst>
              <a:ext uri="{FF2B5EF4-FFF2-40B4-BE49-F238E27FC236}">
                <a16:creationId xmlns:a16="http://schemas.microsoft.com/office/drawing/2014/main" id="{7D117636-E6D8-9D4E-7BC5-F10C0EC80AA0}"/>
              </a:ext>
            </a:extLst>
          </p:cNvPr>
          <p:cNvSpPr/>
          <p:nvPr/>
        </p:nvSpPr>
        <p:spPr>
          <a:xfrm>
            <a:off x="731520" y="5532120"/>
            <a:ext cx="5760720" cy="640080"/>
          </a:xfrm>
          <a:prstGeom prst="rect">
            <a:avLst/>
          </a:prstGeom>
          <a:noFill/>
          <a:ln/>
        </p:spPr>
        <p:txBody>
          <a:bodyPr wrap="square" rtlCol="0" anchor="t"/>
          <a:lstStyle/>
          <a:p>
            <a:pPr marL="0" indent="0">
              <a:buNone/>
            </a:pPr>
            <a:r>
              <a:rPr lang="en-US" sz="1250" i="1" dirty="0">
                <a:solidFill>
                  <a:srgbClr val="9AA7BB"/>
                </a:solidFill>
                <a:latin typeface="Calibri" pitchFamily="34" charset="0"/>
                <a:ea typeface="Calibri" pitchFamily="34" charset="-122"/>
                <a:cs typeface="Calibri" pitchFamily="34" charset="-120"/>
              </a:rPr>
              <a:t>Your job: work the full incident — confirm phishing delivery, determine whether the malware executed, identify persistence and C2 channels, extract actionable IOCs, and recommend first-hour containment to prevent fraud and educate faculty on phishing recognition.</a:t>
            </a:r>
            <a:endParaRPr lang="en-US" sz="1250" dirty="0"/>
          </a:p>
        </p:txBody>
      </p:sp>
      <p:sp>
        <p:nvSpPr>
          <p:cNvPr id="15" name="Shape 13">
            <a:extLst>
              <a:ext uri="{FF2B5EF4-FFF2-40B4-BE49-F238E27FC236}">
                <a16:creationId xmlns:a16="http://schemas.microsoft.com/office/drawing/2014/main" id="{9F4999D2-08FB-3A88-FDBA-807A209FEF81}"/>
              </a:ext>
            </a:extLst>
          </p:cNvPr>
          <p:cNvSpPr/>
          <p:nvPr/>
        </p:nvSpPr>
        <p:spPr>
          <a:xfrm>
            <a:off x="7223760" y="1280160"/>
            <a:ext cx="4434840" cy="4069080"/>
          </a:xfrm>
          <a:prstGeom prst="roundRect">
            <a:avLst>
              <a:gd name="adj" fmla="val 2051"/>
            </a:avLst>
          </a:prstGeom>
          <a:solidFill>
            <a:srgbClr val="12213A"/>
          </a:solidFill>
          <a:ln w="12700">
            <a:solidFill>
              <a:srgbClr val="2A3A54"/>
            </a:solidFill>
            <a:prstDash val="solid"/>
          </a:ln>
        </p:spPr>
        <p:txBody>
          <a:bodyPr/>
          <a:lstStyle/>
          <a:p>
            <a:endParaRPr lang="en-US"/>
          </a:p>
        </p:txBody>
      </p:sp>
      <p:sp>
        <p:nvSpPr>
          <p:cNvPr id="16" name="Text 14">
            <a:extLst>
              <a:ext uri="{FF2B5EF4-FFF2-40B4-BE49-F238E27FC236}">
                <a16:creationId xmlns:a16="http://schemas.microsoft.com/office/drawing/2014/main" id="{B7E83BE5-3D76-0540-0D4E-C9145924FCFF}"/>
              </a:ext>
            </a:extLst>
          </p:cNvPr>
          <p:cNvSpPr/>
          <p:nvPr/>
        </p:nvSpPr>
        <p:spPr>
          <a:xfrm>
            <a:off x="7498080" y="1463040"/>
            <a:ext cx="393192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QUICK FACTS</a:t>
            </a:r>
            <a:endParaRPr lang="en-US" sz="1200" dirty="0"/>
          </a:p>
        </p:txBody>
      </p:sp>
      <p:sp>
        <p:nvSpPr>
          <p:cNvPr id="17" name="Text 15">
            <a:extLst>
              <a:ext uri="{FF2B5EF4-FFF2-40B4-BE49-F238E27FC236}">
                <a16:creationId xmlns:a16="http://schemas.microsoft.com/office/drawing/2014/main" id="{1B17579B-95FB-A09C-64A9-6A0DB196DE9E}"/>
              </a:ext>
            </a:extLst>
          </p:cNvPr>
          <p:cNvSpPr/>
          <p:nvPr/>
        </p:nvSpPr>
        <p:spPr>
          <a:xfrm>
            <a:off x="7498080" y="1965960"/>
            <a:ext cx="3931920" cy="274320"/>
          </a:xfrm>
          <a:prstGeom prst="rect">
            <a:avLst/>
          </a:prstGeom>
          <a:noFill/>
          <a:ln/>
        </p:spPr>
        <p:txBody>
          <a:bodyPr wrap="square" rtlCol="0" anchor="ctr"/>
          <a:lstStyle/>
          <a:p>
            <a:pPr marL="0" indent="0">
              <a:buNone/>
            </a:pPr>
            <a:r>
              <a:rPr lang="en-US" sz="1150" dirty="0">
                <a:solidFill>
                  <a:srgbClr val="8FA5C7"/>
                </a:solidFill>
                <a:latin typeface="Calibri" pitchFamily="34" charset="0"/>
                <a:ea typeface="Calibri" pitchFamily="34" charset="-122"/>
                <a:cs typeface="Calibri" pitchFamily="34" charset="-120"/>
              </a:rPr>
              <a:t>Affected users</a:t>
            </a:r>
            <a:endParaRPr lang="en-US" sz="1150" dirty="0"/>
          </a:p>
        </p:txBody>
      </p:sp>
      <p:sp>
        <p:nvSpPr>
          <p:cNvPr id="18" name="Text 16">
            <a:extLst>
              <a:ext uri="{FF2B5EF4-FFF2-40B4-BE49-F238E27FC236}">
                <a16:creationId xmlns:a16="http://schemas.microsoft.com/office/drawing/2014/main" id="{626A359D-80C0-631A-CE86-52737A1AA483}"/>
              </a:ext>
            </a:extLst>
          </p:cNvPr>
          <p:cNvSpPr/>
          <p:nvPr/>
        </p:nvSpPr>
        <p:spPr>
          <a:xfrm>
            <a:off x="7498080" y="2203704"/>
            <a:ext cx="39319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Faculty members</a:t>
            </a:r>
            <a:endParaRPr lang="en-US" sz="1400" dirty="0"/>
          </a:p>
        </p:txBody>
      </p:sp>
      <p:sp>
        <p:nvSpPr>
          <p:cNvPr id="19" name="Text 17">
            <a:extLst>
              <a:ext uri="{FF2B5EF4-FFF2-40B4-BE49-F238E27FC236}">
                <a16:creationId xmlns:a16="http://schemas.microsoft.com/office/drawing/2014/main" id="{C35ADB01-CECF-4934-2DB0-8EF1F85D46EA}"/>
              </a:ext>
            </a:extLst>
          </p:cNvPr>
          <p:cNvSpPr/>
          <p:nvPr/>
        </p:nvSpPr>
        <p:spPr>
          <a:xfrm>
            <a:off x="7498080" y="2532888"/>
            <a:ext cx="3931920" cy="274320"/>
          </a:xfrm>
          <a:prstGeom prst="rect">
            <a:avLst/>
          </a:prstGeom>
          <a:noFill/>
          <a:ln/>
        </p:spPr>
        <p:txBody>
          <a:bodyPr wrap="square" rtlCol="0" anchor="ctr"/>
          <a:lstStyle/>
          <a:p>
            <a:pPr marL="0" indent="0">
              <a:buNone/>
            </a:pPr>
            <a:r>
              <a:rPr lang="en-US" sz="1150" dirty="0">
                <a:solidFill>
                  <a:srgbClr val="8FA5C7"/>
                </a:solidFill>
                <a:latin typeface="Calibri" pitchFamily="34" charset="0"/>
                <a:ea typeface="Calibri" pitchFamily="34" charset="-122"/>
                <a:cs typeface="Calibri" pitchFamily="34" charset="-120"/>
              </a:rPr>
              <a:t>Artifact</a:t>
            </a:r>
            <a:endParaRPr lang="en-US" sz="1150" dirty="0"/>
          </a:p>
        </p:txBody>
      </p:sp>
      <p:sp>
        <p:nvSpPr>
          <p:cNvPr id="20" name="Text 18">
            <a:extLst>
              <a:ext uri="{FF2B5EF4-FFF2-40B4-BE49-F238E27FC236}">
                <a16:creationId xmlns:a16="http://schemas.microsoft.com/office/drawing/2014/main" id="{74628C9C-AB0C-9F52-424A-1CCB7410B031}"/>
              </a:ext>
            </a:extLst>
          </p:cNvPr>
          <p:cNvSpPr/>
          <p:nvPr/>
        </p:nvSpPr>
        <p:spPr>
          <a:xfrm>
            <a:off x="7498080" y="2770632"/>
            <a:ext cx="39319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Email.eml</a:t>
            </a:r>
            <a:endParaRPr lang="en-US" sz="1400" dirty="0"/>
          </a:p>
        </p:txBody>
      </p:sp>
      <p:sp>
        <p:nvSpPr>
          <p:cNvPr id="21" name="Text 19">
            <a:extLst>
              <a:ext uri="{FF2B5EF4-FFF2-40B4-BE49-F238E27FC236}">
                <a16:creationId xmlns:a16="http://schemas.microsoft.com/office/drawing/2014/main" id="{882E6B3E-3598-13D3-D2B2-5F4BC767E834}"/>
              </a:ext>
            </a:extLst>
          </p:cNvPr>
          <p:cNvSpPr/>
          <p:nvPr/>
        </p:nvSpPr>
        <p:spPr>
          <a:xfrm>
            <a:off x="7498080" y="3099816"/>
            <a:ext cx="3931920" cy="274320"/>
          </a:xfrm>
          <a:prstGeom prst="rect">
            <a:avLst/>
          </a:prstGeom>
          <a:noFill/>
          <a:ln/>
        </p:spPr>
        <p:txBody>
          <a:bodyPr wrap="square" rtlCol="0" anchor="ctr"/>
          <a:lstStyle/>
          <a:p>
            <a:pPr marL="0" indent="0">
              <a:buNone/>
            </a:pPr>
            <a:r>
              <a:rPr lang="en-US" sz="1150" dirty="0">
                <a:solidFill>
                  <a:srgbClr val="8FA5C7"/>
                </a:solidFill>
                <a:latin typeface="Calibri" pitchFamily="34" charset="0"/>
                <a:ea typeface="Calibri" pitchFamily="34" charset="-122"/>
                <a:cs typeface="Calibri" pitchFamily="34" charset="-120"/>
              </a:rPr>
              <a:t>Trigger</a:t>
            </a:r>
            <a:endParaRPr lang="en-US" sz="1150" dirty="0"/>
          </a:p>
        </p:txBody>
      </p:sp>
      <p:sp>
        <p:nvSpPr>
          <p:cNvPr id="22" name="Text 20">
            <a:extLst>
              <a:ext uri="{FF2B5EF4-FFF2-40B4-BE49-F238E27FC236}">
                <a16:creationId xmlns:a16="http://schemas.microsoft.com/office/drawing/2014/main" id="{2F88B36C-1DA7-2FE3-8F0A-10EA089266AD}"/>
              </a:ext>
            </a:extLst>
          </p:cNvPr>
          <p:cNvSpPr/>
          <p:nvPr/>
        </p:nvSpPr>
        <p:spPr>
          <a:xfrm>
            <a:off x="7498080" y="3337560"/>
            <a:ext cx="39319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Phishing email with invoice link</a:t>
            </a:r>
            <a:endParaRPr lang="en-US" sz="1400" dirty="0"/>
          </a:p>
        </p:txBody>
      </p:sp>
      <p:sp>
        <p:nvSpPr>
          <p:cNvPr id="23" name="Text 21">
            <a:extLst>
              <a:ext uri="{FF2B5EF4-FFF2-40B4-BE49-F238E27FC236}">
                <a16:creationId xmlns:a16="http://schemas.microsoft.com/office/drawing/2014/main" id="{A38E3348-AF78-4500-F54A-99D075AAFA14}"/>
              </a:ext>
            </a:extLst>
          </p:cNvPr>
          <p:cNvSpPr/>
          <p:nvPr/>
        </p:nvSpPr>
        <p:spPr>
          <a:xfrm>
            <a:off x="7498080" y="3666744"/>
            <a:ext cx="3931920" cy="274320"/>
          </a:xfrm>
          <a:prstGeom prst="rect">
            <a:avLst/>
          </a:prstGeom>
          <a:noFill/>
          <a:ln/>
        </p:spPr>
        <p:txBody>
          <a:bodyPr wrap="square" rtlCol="0" anchor="ctr"/>
          <a:lstStyle/>
          <a:p>
            <a:pPr marL="0" indent="0">
              <a:buNone/>
            </a:pPr>
            <a:r>
              <a:rPr lang="en-US" sz="1150" dirty="0">
                <a:solidFill>
                  <a:srgbClr val="8FA5C7"/>
                </a:solidFill>
                <a:latin typeface="Calibri" pitchFamily="34" charset="0"/>
                <a:ea typeface="Calibri" pitchFamily="34" charset="-122"/>
                <a:cs typeface="Calibri" pitchFamily="34" charset="-120"/>
              </a:rPr>
              <a:t>Lure</a:t>
            </a:r>
            <a:endParaRPr lang="en-US" sz="1150" dirty="0"/>
          </a:p>
        </p:txBody>
      </p:sp>
      <p:sp>
        <p:nvSpPr>
          <p:cNvPr id="24" name="Text 22">
            <a:extLst>
              <a:ext uri="{FF2B5EF4-FFF2-40B4-BE49-F238E27FC236}">
                <a16:creationId xmlns:a16="http://schemas.microsoft.com/office/drawing/2014/main" id="{9AF61ED0-7FC0-6182-4977-08991CF2CA1E}"/>
              </a:ext>
            </a:extLst>
          </p:cNvPr>
          <p:cNvSpPr/>
          <p:nvPr/>
        </p:nvSpPr>
        <p:spPr>
          <a:xfrm>
            <a:off x="7498080" y="3904488"/>
            <a:ext cx="39319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Fake $625,000 purchase receipt</a:t>
            </a:r>
            <a:endParaRPr lang="en-US" sz="1400" dirty="0"/>
          </a:p>
        </p:txBody>
      </p:sp>
      <p:sp>
        <p:nvSpPr>
          <p:cNvPr id="25" name="Text 23">
            <a:extLst>
              <a:ext uri="{FF2B5EF4-FFF2-40B4-BE49-F238E27FC236}">
                <a16:creationId xmlns:a16="http://schemas.microsoft.com/office/drawing/2014/main" id="{5802F6ED-427B-E274-3F27-4126C976FF77}"/>
              </a:ext>
            </a:extLst>
          </p:cNvPr>
          <p:cNvSpPr/>
          <p:nvPr/>
        </p:nvSpPr>
        <p:spPr>
          <a:xfrm>
            <a:off x="7498080" y="4233672"/>
            <a:ext cx="3931920" cy="274320"/>
          </a:xfrm>
          <a:prstGeom prst="rect">
            <a:avLst/>
          </a:prstGeom>
          <a:noFill/>
          <a:ln/>
        </p:spPr>
        <p:txBody>
          <a:bodyPr wrap="square" rtlCol="0" anchor="ctr"/>
          <a:lstStyle/>
          <a:p>
            <a:pPr marL="0" indent="0">
              <a:buNone/>
            </a:pPr>
            <a:r>
              <a:rPr lang="en-US" sz="1150" dirty="0">
                <a:solidFill>
                  <a:srgbClr val="8FA5C7"/>
                </a:solidFill>
                <a:latin typeface="Calibri" pitchFamily="34" charset="0"/>
                <a:ea typeface="Calibri" pitchFamily="34" charset="-122"/>
                <a:cs typeface="Calibri" pitchFamily="34" charset="-120"/>
              </a:rPr>
              <a:t>Your role</a:t>
            </a:r>
            <a:endParaRPr lang="en-US" sz="1150" dirty="0"/>
          </a:p>
        </p:txBody>
      </p:sp>
      <p:sp>
        <p:nvSpPr>
          <p:cNvPr id="26" name="Text 24">
            <a:extLst>
              <a:ext uri="{FF2B5EF4-FFF2-40B4-BE49-F238E27FC236}">
                <a16:creationId xmlns:a16="http://schemas.microsoft.com/office/drawing/2014/main" id="{25F6D1E3-9C47-3BA2-E78F-99B917428F2C}"/>
              </a:ext>
            </a:extLst>
          </p:cNvPr>
          <p:cNvSpPr/>
          <p:nvPr/>
        </p:nvSpPr>
        <p:spPr>
          <a:xfrm>
            <a:off x="7498080" y="4471416"/>
            <a:ext cx="39319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Cybersecurity analyst / Threat Intel</a:t>
            </a:r>
            <a:endParaRPr lang="en-US" sz="1400" dirty="0"/>
          </a:p>
        </p:txBody>
      </p:sp>
      <p:sp>
        <p:nvSpPr>
          <p:cNvPr id="27" name="Text 25">
            <a:extLst>
              <a:ext uri="{FF2B5EF4-FFF2-40B4-BE49-F238E27FC236}">
                <a16:creationId xmlns:a16="http://schemas.microsoft.com/office/drawing/2014/main" id="{935AB15B-19C1-26BA-0841-289C40F5268B}"/>
              </a:ext>
            </a:extLst>
          </p:cNvPr>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E7F9C"/>
                </a:solidFill>
                <a:latin typeface="Calibri" pitchFamily="34" charset="0"/>
                <a:ea typeface="Calibri" pitchFamily="34" charset="-122"/>
                <a:cs typeface="Calibri" pitchFamily="34" charset="-120"/>
              </a:rPr>
              <a:t>Scenario Context</a:t>
            </a:r>
            <a:endParaRPr lang="en-US" sz="1000" dirty="0"/>
          </a:p>
        </p:txBody>
      </p:sp>
      <p:sp>
        <p:nvSpPr>
          <p:cNvPr id="28" name="Text 26">
            <a:extLst>
              <a:ext uri="{FF2B5EF4-FFF2-40B4-BE49-F238E27FC236}">
                <a16:creationId xmlns:a16="http://schemas.microsoft.com/office/drawing/2014/main" id="{E531A8C3-018A-0AFD-2147-E324403EFADE}"/>
              </a:ext>
            </a:extLst>
          </p:cNvPr>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6E7F9C"/>
                </a:solidFill>
                <a:latin typeface="Calibri" pitchFamily="34" charset="0"/>
                <a:ea typeface="Calibri" pitchFamily="34" charset="-122"/>
                <a:cs typeface="Calibri" pitchFamily="34" charset="-120"/>
              </a:rPr>
              <a:t>Week 1 Lab</a:t>
            </a:r>
            <a:endParaRPr lang="en-US" sz="1000" dirty="0"/>
          </a:p>
        </p:txBody>
      </p:sp>
    </p:spTree>
    <p:extLst>
      <p:ext uri="{BB962C8B-B14F-4D97-AF65-F5344CB8AC3E}">
        <p14:creationId xmlns:p14="http://schemas.microsoft.com/office/powerpoint/2010/main" val="2150058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marL="0" indent="0">
              <a:buNone/>
            </a:pPr>
            <a:r>
              <a:rPr lang="en-US" sz="3000" b="1" dirty="0">
                <a:solidFill>
                  <a:srgbClr val="0B1626"/>
                </a:solidFill>
                <a:latin typeface="Cambria" pitchFamily="34" charset="0"/>
                <a:ea typeface="Cambria" pitchFamily="34" charset="-122"/>
                <a:cs typeface="Cambria" pitchFamily="34" charset="-120"/>
              </a:rPr>
              <a:t>The Artifact Package</a:t>
            </a:r>
            <a:endParaRPr lang="en-US" sz="3000" dirty="0"/>
          </a:p>
        </p:txBody>
      </p:sp>
      <p:sp>
        <p:nvSpPr>
          <p:cNvPr id="3" name="Text 1"/>
          <p:cNvSpPr/>
          <p:nvPr/>
        </p:nvSpPr>
        <p:spPr>
          <a:xfrm>
            <a:off x="548640" y="1005840"/>
            <a:ext cx="10515600" cy="411480"/>
          </a:xfrm>
          <a:prstGeom prst="rect">
            <a:avLst/>
          </a:prstGeom>
          <a:noFill/>
          <a:ln/>
        </p:spPr>
        <p:txBody>
          <a:bodyPr wrap="square" rtlCol="0" anchor="ctr"/>
          <a:lstStyle/>
          <a:p>
            <a:pPr marL="0" indent="0">
              <a:buNone/>
            </a:pPr>
            <a:r>
              <a:rPr lang="en-US" sz="1400" i="1" dirty="0">
                <a:solidFill>
                  <a:srgbClr val="44536B"/>
                </a:solidFill>
                <a:latin typeface="Calibri" pitchFamily="34" charset="0"/>
                <a:ea typeface="Calibri" pitchFamily="34" charset="-122"/>
                <a:cs typeface="Calibri" pitchFamily="34" charset="-120"/>
              </a:rPr>
              <a:t>One raw phishing email (Email.eml) — headers, body, and an embedded link. Realistic threat intel work means pulling IOCs from a single artifact.</a:t>
            </a:r>
            <a:endParaRPr lang="en-US" sz="1400" dirty="0"/>
          </a:p>
        </p:txBody>
      </p:sp>
      <p:sp>
        <p:nvSpPr>
          <p:cNvPr id="4" name="Shape 2"/>
          <p:cNvSpPr/>
          <p:nvPr/>
        </p:nvSpPr>
        <p:spPr>
          <a:xfrm>
            <a:off x="548640" y="1691640"/>
            <a:ext cx="5074920" cy="475488"/>
          </a:xfrm>
          <a:prstGeom prst="roundRect">
            <a:avLst>
              <a:gd name="adj" fmla="val 13462"/>
            </a:avLst>
          </a:prstGeom>
          <a:solidFill>
            <a:srgbClr val="FFFFFF"/>
          </a:solidFill>
          <a:ln w="12700">
            <a:solidFill>
              <a:srgbClr val="E2E7F0"/>
            </a:solidFill>
            <a:prstDash val="solid"/>
          </a:ln>
        </p:spPr>
        <p:txBody>
          <a:bodyPr/>
          <a:lstStyle/>
          <a:p>
            <a:endParaRPr lang="en-US"/>
          </a:p>
        </p:txBody>
      </p:sp>
      <p:sp>
        <p:nvSpPr>
          <p:cNvPr id="5" name="Shape 3"/>
          <p:cNvSpPr/>
          <p:nvPr/>
        </p:nvSpPr>
        <p:spPr>
          <a:xfrm>
            <a:off x="658368" y="1792224"/>
            <a:ext cx="274320" cy="274320"/>
          </a:xfrm>
          <a:prstGeom prst="roundRect">
            <a:avLst>
              <a:gd name="adj" fmla="val 20000"/>
            </a:avLst>
          </a:prstGeom>
          <a:solidFill>
            <a:srgbClr val="EAF0FB"/>
          </a:solidFill>
          <a:ln/>
        </p:spPr>
        <p:txBody>
          <a:bodyPr/>
          <a:lstStyle/>
          <a:p>
            <a:endParaRPr lang="en-US"/>
          </a:p>
        </p:txBody>
      </p:sp>
      <p:sp>
        <p:nvSpPr>
          <p:cNvPr id="6" name="Text 4"/>
          <p:cNvSpPr/>
          <p:nvPr/>
        </p:nvSpPr>
        <p:spPr>
          <a:xfrm>
            <a:off x="1051560" y="1691640"/>
            <a:ext cx="4434840" cy="475488"/>
          </a:xfrm>
          <a:prstGeom prst="rect">
            <a:avLst/>
          </a:prstGeom>
          <a:noFill/>
          <a:ln/>
        </p:spPr>
        <p:txBody>
          <a:bodyPr wrap="square" rtlCol="0" anchor="ctr"/>
          <a:lstStyle/>
          <a:p>
            <a:pPr marL="0" indent="0">
              <a:buNone/>
            </a:pPr>
            <a:r>
              <a:rPr lang="en-US" sz="1250" dirty="0">
                <a:solidFill>
                  <a:srgbClr val="0B1626"/>
                </a:solidFill>
                <a:latin typeface="Calibri" pitchFamily="34" charset="0"/>
                <a:ea typeface="Calibri" pitchFamily="34" charset="-122"/>
                <a:cs typeface="Calibri" pitchFamily="34" charset="-120"/>
              </a:rPr>
              <a:t>Raw email message (Email.eml)</a:t>
            </a:r>
            <a:endParaRPr lang="en-US" sz="1250" dirty="0"/>
          </a:p>
        </p:txBody>
      </p:sp>
      <p:sp>
        <p:nvSpPr>
          <p:cNvPr id="7" name="Shape 5"/>
          <p:cNvSpPr/>
          <p:nvPr/>
        </p:nvSpPr>
        <p:spPr>
          <a:xfrm>
            <a:off x="5989320" y="1691640"/>
            <a:ext cx="5074920" cy="475488"/>
          </a:xfrm>
          <a:prstGeom prst="roundRect">
            <a:avLst>
              <a:gd name="adj" fmla="val 13462"/>
            </a:avLst>
          </a:prstGeom>
          <a:solidFill>
            <a:srgbClr val="FFFFFF"/>
          </a:solidFill>
          <a:ln w="12700">
            <a:solidFill>
              <a:srgbClr val="E2E7F0"/>
            </a:solidFill>
            <a:prstDash val="solid"/>
          </a:ln>
        </p:spPr>
        <p:txBody>
          <a:bodyPr/>
          <a:lstStyle/>
          <a:p>
            <a:endParaRPr lang="en-US"/>
          </a:p>
        </p:txBody>
      </p:sp>
      <p:sp>
        <p:nvSpPr>
          <p:cNvPr id="8" name="Shape 6"/>
          <p:cNvSpPr/>
          <p:nvPr/>
        </p:nvSpPr>
        <p:spPr>
          <a:xfrm>
            <a:off x="6099048" y="1792224"/>
            <a:ext cx="274320" cy="274320"/>
          </a:xfrm>
          <a:prstGeom prst="roundRect">
            <a:avLst>
              <a:gd name="adj" fmla="val 20000"/>
            </a:avLst>
          </a:prstGeom>
          <a:solidFill>
            <a:srgbClr val="EAF0FB"/>
          </a:solidFill>
          <a:ln/>
        </p:spPr>
        <p:txBody>
          <a:bodyPr/>
          <a:lstStyle/>
          <a:p>
            <a:endParaRPr lang="en-US"/>
          </a:p>
        </p:txBody>
      </p:sp>
      <p:sp>
        <p:nvSpPr>
          <p:cNvPr id="9" name="Text 7"/>
          <p:cNvSpPr/>
          <p:nvPr/>
        </p:nvSpPr>
        <p:spPr>
          <a:xfrm>
            <a:off x="6492240" y="1691640"/>
            <a:ext cx="4434840" cy="475488"/>
          </a:xfrm>
          <a:prstGeom prst="rect">
            <a:avLst/>
          </a:prstGeom>
          <a:noFill/>
          <a:ln/>
        </p:spPr>
        <p:txBody>
          <a:bodyPr wrap="square" rtlCol="0" anchor="ctr"/>
          <a:lstStyle/>
          <a:p>
            <a:pPr marL="0" indent="0">
              <a:buNone/>
            </a:pPr>
            <a:r>
              <a:rPr lang="en-US" sz="1250" dirty="0">
                <a:solidFill>
                  <a:srgbClr val="0B1626"/>
                </a:solidFill>
                <a:latin typeface="Calibri" pitchFamily="34" charset="0"/>
                <a:ea typeface="Calibri" pitchFamily="34" charset="-122"/>
                <a:cs typeface="Calibri" pitchFamily="34" charset="-120"/>
              </a:rPr>
              <a:t>Full email headers (Received chain)</a:t>
            </a:r>
            <a:endParaRPr lang="en-US" sz="1250" dirty="0"/>
          </a:p>
        </p:txBody>
      </p:sp>
      <p:sp>
        <p:nvSpPr>
          <p:cNvPr id="10" name="Shape 8"/>
          <p:cNvSpPr/>
          <p:nvPr/>
        </p:nvSpPr>
        <p:spPr>
          <a:xfrm>
            <a:off x="548640" y="2313432"/>
            <a:ext cx="5074920" cy="475488"/>
          </a:xfrm>
          <a:prstGeom prst="roundRect">
            <a:avLst>
              <a:gd name="adj" fmla="val 13462"/>
            </a:avLst>
          </a:prstGeom>
          <a:solidFill>
            <a:srgbClr val="FFFFFF"/>
          </a:solidFill>
          <a:ln w="12700">
            <a:solidFill>
              <a:srgbClr val="E2E7F0"/>
            </a:solidFill>
            <a:prstDash val="solid"/>
          </a:ln>
        </p:spPr>
        <p:txBody>
          <a:bodyPr/>
          <a:lstStyle/>
          <a:p>
            <a:endParaRPr lang="en-US"/>
          </a:p>
        </p:txBody>
      </p:sp>
      <p:sp>
        <p:nvSpPr>
          <p:cNvPr id="11" name="Shape 9"/>
          <p:cNvSpPr/>
          <p:nvPr/>
        </p:nvSpPr>
        <p:spPr>
          <a:xfrm>
            <a:off x="658368" y="2414016"/>
            <a:ext cx="274320" cy="274320"/>
          </a:xfrm>
          <a:prstGeom prst="roundRect">
            <a:avLst>
              <a:gd name="adj" fmla="val 20000"/>
            </a:avLst>
          </a:prstGeom>
          <a:solidFill>
            <a:srgbClr val="EAF0FB"/>
          </a:solidFill>
          <a:ln/>
        </p:spPr>
        <p:txBody>
          <a:bodyPr/>
          <a:lstStyle/>
          <a:p>
            <a:endParaRPr lang="en-US"/>
          </a:p>
        </p:txBody>
      </p:sp>
      <p:sp>
        <p:nvSpPr>
          <p:cNvPr id="12" name="Text 10"/>
          <p:cNvSpPr/>
          <p:nvPr/>
        </p:nvSpPr>
        <p:spPr>
          <a:xfrm>
            <a:off x="1051560" y="2313432"/>
            <a:ext cx="4434840" cy="475488"/>
          </a:xfrm>
          <a:prstGeom prst="rect">
            <a:avLst/>
          </a:prstGeom>
          <a:noFill/>
          <a:ln/>
        </p:spPr>
        <p:txBody>
          <a:bodyPr wrap="square" rtlCol="0" anchor="ctr"/>
          <a:lstStyle/>
          <a:p>
            <a:pPr marL="0" indent="0">
              <a:buNone/>
            </a:pPr>
            <a:r>
              <a:rPr lang="en-US" sz="1250" dirty="0">
                <a:solidFill>
                  <a:srgbClr val="0B1626"/>
                </a:solidFill>
                <a:latin typeface="Calibri" pitchFamily="34" charset="0"/>
                <a:ea typeface="Calibri" pitchFamily="34" charset="-122"/>
                <a:cs typeface="Calibri" pitchFamily="34" charset="-120"/>
              </a:rPr>
              <a:t>SPF / DKIM / DMARC results</a:t>
            </a:r>
            <a:endParaRPr lang="en-US" sz="1250" dirty="0"/>
          </a:p>
        </p:txBody>
      </p:sp>
      <p:sp>
        <p:nvSpPr>
          <p:cNvPr id="13" name="Shape 11"/>
          <p:cNvSpPr/>
          <p:nvPr/>
        </p:nvSpPr>
        <p:spPr>
          <a:xfrm>
            <a:off x="5989320" y="2313432"/>
            <a:ext cx="5074920" cy="475488"/>
          </a:xfrm>
          <a:prstGeom prst="roundRect">
            <a:avLst>
              <a:gd name="adj" fmla="val 13462"/>
            </a:avLst>
          </a:prstGeom>
          <a:solidFill>
            <a:srgbClr val="FFFFFF"/>
          </a:solidFill>
          <a:ln w="12700">
            <a:solidFill>
              <a:srgbClr val="E2E7F0"/>
            </a:solidFill>
            <a:prstDash val="solid"/>
          </a:ln>
        </p:spPr>
        <p:txBody>
          <a:bodyPr/>
          <a:lstStyle/>
          <a:p>
            <a:endParaRPr lang="en-US"/>
          </a:p>
        </p:txBody>
      </p:sp>
      <p:sp>
        <p:nvSpPr>
          <p:cNvPr id="14" name="Shape 12"/>
          <p:cNvSpPr/>
          <p:nvPr/>
        </p:nvSpPr>
        <p:spPr>
          <a:xfrm>
            <a:off x="6099048" y="2414016"/>
            <a:ext cx="274320" cy="274320"/>
          </a:xfrm>
          <a:prstGeom prst="roundRect">
            <a:avLst>
              <a:gd name="adj" fmla="val 20000"/>
            </a:avLst>
          </a:prstGeom>
          <a:solidFill>
            <a:srgbClr val="EAF0FB"/>
          </a:solidFill>
          <a:ln/>
        </p:spPr>
        <p:txBody>
          <a:bodyPr/>
          <a:lstStyle/>
          <a:p>
            <a:endParaRPr lang="en-US"/>
          </a:p>
        </p:txBody>
      </p:sp>
      <p:sp>
        <p:nvSpPr>
          <p:cNvPr id="15" name="Text 13"/>
          <p:cNvSpPr/>
          <p:nvPr/>
        </p:nvSpPr>
        <p:spPr>
          <a:xfrm>
            <a:off x="6492240" y="2313432"/>
            <a:ext cx="4434840" cy="475488"/>
          </a:xfrm>
          <a:prstGeom prst="rect">
            <a:avLst/>
          </a:prstGeom>
          <a:noFill/>
          <a:ln/>
        </p:spPr>
        <p:txBody>
          <a:bodyPr wrap="square" rtlCol="0" anchor="ctr"/>
          <a:lstStyle/>
          <a:p>
            <a:pPr marL="0" indent="0">
              <a:buNone/>
            </a:pPr>
            <a:r>
              <a:rPr lang="en-US" sz="1250" dirty="0">
                <a:solidFill>
                  <a:srgbClr val="0B1626"/>
                </a:solidFill>
                <a:latin typeface="Calibri" pitchFamily="34" charset="0"/>
                <a:ea typeface="Calibri" pitchFamily="34" charset="-122"/>
                <a:cs typeface="Calibri" pitchFamily="34" charset="-120"/>
              </a:rPr>
              <a:t>Sender &amp; Return-Path addresses</a:t>
            </a:r>
            <a:endParaRPr lang="en-US" sz="1250" dirty="0"/>
          </a:p>
        </p:txBody>
      </p:sp>
      <p:sp>
        <p:nvSpPr>
          <p:cNvPr id="16" name="Shape 14"/>
          <p:cNvSpPr/>
          <p:nvPr/>
        </p:nvSpPr>
        <p:spPr>
          <a:xfrm>
            <a:off x="548640" y="2935224"/>
            <a:ext cx="5074920" cy="475488"/>
          </a:xfrm>
          <a:prstGeom prst="roundRect">
            <a:avLst>
              <a:gd name="adj" fmla="val 13462"/>
            </a:avLst>
          </a:prstGeom>
          <a:solidFill>
            <a:srgbClr val="FFFFFF"/>
          </a:solidFill>
          <a:ln w="12700">
            <a:solidFill>
              <a:srgbClr val="E2E7F0"/>
            </a:solidFill>
            <a:prstDash val="solid"/>
          </a:ln>
        </p:spPr>
        <p:txBody>
          <a:bodyPr/>
          <a:lstStyle/>
          <a:p>
            <a:endParaRPr lang="en-US"/>
          </a:p>
        </p:txBody>
      </p:sp>
      <p:sp>
        <p:nvSpPr>
          <p:cNvPr id="17" name="Shape 15"/>
          <p:cNvSpPr/>
          <p:nvPr/>
        </p:nvSpPr>
        <p:spPr>
          <a:xfrm>
            <a:off x="658368" y="3035808"/>
            <a:ext cx="274320" cy="274320"/>
          </a:xfrm>
          <a:prstGeom prst="roundRect">
            <a:avLst>
              <a:gd name="adj" fmla="val 20000"/>
            </a:avLst>
          </a:prstGeom>
          <a:solidFill>
            <a:srgbClr val="EAF0FB"/>
          </a:solidFill>
          <a:ln/>
        </p:spPr>
        <p:txBody>
          <a:bodyPr/>
          <a:lstStyle/>
          <a:p>
            <a:endParaRPr lang="en-US"/>
          </a:p>
        </p:txBody>
      </p:sp>
      <p:sp>
        <p:nvSpPr>
          <p:cNvPr id="18" name="Text 16"/>
          <p:cNvSpPr/>
          <p:nvPr/>
        </p:nvSpPr>
        <p:spPr>
          <a:xfrm>
            <a:off x="1051560" y="2935224"/>
            <a:ext cx="4434840" cy="475488"/>
          </a:xfrm>
          <a:prstGeom prst="rect">
            <a:avLst/>
          </a:prstGeom>
          <a:noFill/>
          <a:ln/>
        </p:spPr>
        <p:txBody>
          <a:bodyPr wrap="square" rtlCol="0" anchor="ctr"/>
          <a:lstStyle/>
          <a:p>
            <a:pPr marL="0" indent="0">
              <a:buNone/>
            </a:pPr>
            <a:r>
              <a:rPr lang="en-US" sz="1250" dirty="0">
                <a:solidFill>
                  <a:srgbClr val="0B1626"/>
                </a:solidFill>
                <a:latin typeface="Calibri" pitchFamily="34" charset="0"/>
                <a:ea typeface="Calibri" pitchFamily="34" charset="-122"/>
                <a:cs typeface="Calibri" pitchFamily="34" charset="-120"/>
              </a:rPr>
              <a:t>Message-ID &amp; originating IP</a:t>
            </a:r>
            <a:endParaRPr lang="en-US" sz="1250" dirty="0"/>
          </a:p>
        </p:txBody>
      </p:sp>
      <p:sp>
        <p:nvSpPr>
          <p:cNvPr id="19" name="Shape 17"/>
          <p:cNvSpPr/>
          <p:nvPr/>
        </p:nvSpPr>
        <p:spPr>
          <a:xfrm>
            <a:off x="5989320" y="2935224"/>
            <a:ext cx="5074920" cy="475488"/>
          </a:xfrm>
          <a:prstGeom prst="roundRect">
            <a:avLst>
              <a:gd name="adj" fmla="val 13462"/>
            </a:avLst>
          </a:prstGeom>
          <a:solidFill>
            <a:srgbClr val="FFFFFF"/>
          </a:solidFill>
          <a:ln w="12700">
            <a:solidFill>
              <a:srgbClr val="E2E7F0"/>
            </a:solidFill>
            <a:prstDash val="solid"/>
          </a:ln>
        </p:spPr>
        <p:txBody>
          <a:bodyPr/>
          <a:lstStyle/>
          <a:p>
            <a:endParaRPr lang="en-US"/>
          </a:p>
        </p:txBody>
      </p:sp>
      <p:sp>
        <p:nvSpPr>
          <p:cNvPr id="20" name="Shape 18"/>
          <p:cNvSpPr/>
          <p:nvPr/>
        </p:nvSpPr>
        <p:spPr>
          <a:xfrm>
            <a:off x="6099048" y="3035808"/>
            <a:ext cx="274320" cy="274320"/>
          </a:xfrm>
          <a:prstGeom prst="roundRect">
            <a:avLst>
              <a:gd name="adj" fmla="val 20000"/>
            </a:avLst>
          </a:prstGeom>
          <a:solidFill>
            <a:srgbClr val="EAF0FB"/>
          </a:solidFill>
          <a:ln/>
        </p:spPr>
        <p:txBody>
          <a:bodyPr/>
          <a:lstStyle/>
          <a:p>
            <a:endParaRPr lang="en-US"/>
          </a:p>
        </p:txBody>
      </p:sp>
      <p:sp>
        <p:nvSpPr>
          <p:cNvPr id="21" name="Text 19"/>
          <p:cNvSpPr/>
          <p:nvPr/>
        </p:nvSpPr>
        <p:spPr>
          <a:xfrm>
            <a:off x="6492240" y="2935224"/>
            <a:ext cx="4434840" cy="475488"/>
          </a:xfrm>
          <a:prstGeom prst="rect">
            <a:avLst/>
          </a:prstGeom>
          <a:noFill/>
          <a:ln/>
        </p:spPr>
        <p:txBody>
          <a:bodyPr wrap="square" rtlCol="0" anchor="ctr"/>
          <a:lstStyle/>
          <a:p>
            <a:pPr marL="0" indent="0">
              <a:buNone/>
            </a:pPr>
            <a:r>
              <a:rPr lang="en-US" sz="1250" dirty="0">
                <a:solidFill>
                  <a:srgbClr val="0B1626"/>
                </a:solidFill>
                <a:latin typeface="Calibri" pitchFamily="34" charset="0"/>
                <a:ea typeface="Calibri" pitchFamily="34" charset="-122"/>
                <a:cs typeface="Calibri" pitchFamily="34" charset="-120"/>
              </a:rPr>
              <a:t>Email body — purchase lure text</a:t>
            </a:r>
            <a:endParaRPr lang="en-US" sz="1250" dirty="0"/>
          </a:p>
        </p:txBody>
      </p:sp>
      <p:sp>
        <p:nvSpPr>
          <p:cNvPr id="22" name="Shape 20"/>
          <p:cNvSpPr/>
          <p:nvPr/>
        </p:nvSpPr>
        <p:spPr>
          <a:xfrm>
            <a:off x="548640" y="3557016"/>
            <a:ext cx="5074920" cy="475488"/>
          </a:xfrm>
          <a:prstGeom prst="roundRect">
            <a:avLst>
              <a:gd name="adj" fmla="val 13462"/>
            </a:avLst>
          </a:prstGeom>
          <a:solidFill>
            <a:srgbClr val="FFFFFF"/>
          </a:solidFill>
          <a:ln w="12700">
            <a:solidFill>
              <a:srgbClr val="E2E7F0"/>
            </a:solidFill>
            <a:prstDash val="solid"/>
          </a:ln>
        </p:spPr>
        <p:txBody>
          <a:bodyPr/>
          <a:lstStyle/>
          <a:p>
            <a:endParaRPr lang="en-US"/>
          </a:p>
        </p:txBody>
      </p:sp>
      <p:sp>
        <p:nvSpPr>
          <p:cNvPr id="23" name="Shape 21"/>
          <p:cNvSpPr/>
          <p:nvPr/>
        </p:nvSpPr>
        <p:spPr>
          <a:xfrm>
            <a:off x="658368" y="3657600"/>
            <a:ext cx="274320" cy="274320"/>
          </a:xfrm>
          <a:prstGeom prst="roundRect">
            <a:avLst>
              <a:gd name="adj" fmla="val 20000"/>
            </a:avLst>
          </a:prstGeom>
          <a:solidFill>
            <a:srgbClr val="EAF0FB"/>
          </a:solidFill>
          <a:ln/>
        </p:spPr>
        <p:txBody>
          <a:bodyPr/>
          <a:lstStyle/>
          <a:p>
            <a:endParaRPr lang="en-US"/>
          </a:p>
        </p:txBody>
      </p:sp>
      <p:sp>
        <p:nvSpPr>
          <p:cNvPr id="24" name="Text 22"/>
          <p:cNvSpPr/>
          <p:nvPr/>
        </p:nvSpPr>
        <p:spPr>
          <a:xfrm>
            <a:off x="1051560" y="3557016"/>
            <a:ext cx="4434840" cy="475488"/>
          </a:xfrm>
          <a:prstGeom prst="rect">
            <a:avLst/>
          </a:prstGeom>
          <a:noFill/>
          <a:ln/>
        </p:spPr>
        <p:txBody>
          <a:bodyPr wrap="square" rtlCol="0" anchor="ctr"/>
          <a:lstStyle/>
          <a:p>
            <a:pPr marL="0" indent="0">
              <a:buNone/>
            </a:pPr>
            <a:r>
              <a:rPr lang="en-US" sz="1250" dirty="0">
                <a:solidFill>
                  <a:srgbClr val="0B1626"/>
                </a:solidFill>
                <a:latin typeface="Calibri" pitchFamily="34" charset="0"/>
                <a:ea typeface="Calibri" pitchFamily="34" charset="-122"/>
                <a:cs typeface="Calibri" pitchFamily="34" charset="-120"/>
              </a:rPr>
              <a:t>Embedded URL / link</a:t>
            </a:r>
            <a:endParaRPr lang="en-US" sz="1250" dirty="0"/>
          </a:p>
        </p:txBody>
      </p:sp>
      <p:sp>
        <p:nvSpPr>
          <p:cNvPr id="25" name="Shape 23"/>
          <p:cNvSpPr/>
          <p:nvPr/>
        </p:nvSpPr>
        <p:spPr>
          <a:xfrm>
            <a:off x="5989320" y="3557016"/>
            <a:ext cx="5074920" cy="475488"/>
          </a:xfrm>
          <a:prstGeom prst="roundRect">
            <a:avLst>
              <a:gd name="adj" fmla="val 13462"/>
            </a:avLst>
          </a:prstGeom>
          <a:solidFill>
            <a:srgbClr val="FFFFFF"/>
          </a:solidFill>
          <a:ln w="12700">
            <a:solidFill>
              <a:srgbClr val="E2E7F0"/>
            </a:solidFill>
            <a:prstDash val="solid"/>
          </a:ln>
        </p:spPr>
        <p:txBody>
          <a:bodyPr/>
          <a:lstStyle/>
          <a:p>
            <a:endParaRPr lang="en-US"/>
          </a:p>
        </p:txBody>
      </p:sp>
      <p:sp>
        <p:nvSpPr>
          <p:cNvPr id="26" name="Shape 24"/>
          <p:cNvSpPr/>
          <p:nvPr/>
        </p:nvSpPr>
        <p:spPr>
          <a:xfrm>
            <a:off x="6099048" y="3657600"/>
            <a:ext cx="274320" cy="274320"/>
          </a:xfrm>
          <a:prstGeom prst="roundRect">
            <a:avLst>
              <a:gd name="adj" fmla="val 20000"/>
            </a:avLst>
          </a:prstGeom>
          <a:solidFill>
            <a:srgbClr val="EAF0FB"/>
          </a:solidFill>
          <a:ln/>
        </p:spPr>
        <p:txBody>
          <a:bodyPr/>
          <a:lstStyle/>
          <a:p>
            <a:endParaRPr lang="en-US"/>
          </a:p>
        </p:txBody>
      </p:sp>
      <p:sp>
        <p:nvSpPr>
          <p:cNvPr id="27" name="Text 25"/>
          <p:cNvSpPr/>
          <p:nvPr/>
        </p:nvSpPr>
        <p:spPr>
          <a:xfrm>
            <a:off x="6492240" y="3557016"/>
            <a:ext cx="4434840" cy="475488"/>
          </a:xfrm>
          <a:prstGeom prst="rect">
            <a:avLst/>
          </a:prstGeom>
          <a:noFill/>
          <a:ln/>
        </p:spPr>
        <p:txBody>
          <a:bodyPr wrap="square" rtlCol="0" anchor="ctr"/>
          <a:lstStyle/>
          <a:p>
            <a:pPr marL="0" indent="0">
              <a:buNone/>
            </a:pPr>
            <a:r>
              <a:rPr lang="en-US" sz="1250" dirty="0">
                <a:solidFill>
                  <a:srgbClr val="0B1626"/>
                </a:solidFill>
                <a:latin typeface="Calibri" pitchFamily="34" charset="0"/>
                <a:ea typeface="Calibri" pitchFamily="34" charset="-122"/>
                <a:cs typeface="Calibri" pitchFamily="34" charset="-120"/>
              </a:rPr>
              <a:t>ACCESS CODE: 8657</a:t>
            </a:r>
            <a:endParaRPr lang="en-US" sz="1250" dirty="0"/>
          </a:p>
        </p:txBody>
      </p:sp>
      <p:sp>
        <p:nvSpPr>
          <p:cNvPr id="28" name="Shape 26"/>
          <p:cNvSpPr/>
          <p:nvPr/>
        </p:nvSpPr>
        <p:spPr>
          <a:xfrm>
            <a:off x="548640" y="4178808"/>
            <a:ext cx="5074920" cy="475488"/>
          </a:xfrm>
          <a:prstGeom prst="roundRect">
            <a:avLst>
              <a:gd name="adj" fmla="val 13462"/>
            </a:avLst>
          </a:prstGeom>
          <a:solidFill>
            <a:srgbClr val="FFFFFF"/>
          </a:solidFill>
          <a:ln w="12700">
            <a:solidFill>
              <a:srgbClr val="E2E7F0"/>
            </a:solidFill>
            <a:prstDash val="solid"/>
          </a:ln>
        </p:spPr>
        <p:txBody>
          <a:bodyPr/>
          <a:lstStyle/>
          <a:p>
            <a:endParaRPr lang="en-US"/>
          </a:p>
        </p:txBody>
      </p:sp>
      <p:sp>
        <p:nvSpPr>
          <p:cNvPr id="29" name="Shape 27"/>
          <p:cNvSpPr/>
          <p:nvPr/>
        </p:nvSpPr>
        <p:spPr>
          <a:xfrm>
            <a:off x="658368" y="4279392"/>
            <a:ext cx="274320" cy="274320"/>
          </a:xfrm>
          <a:prstGeom prst="roundRect">
            <a:avLst>
              <a:gd name="adj" fmla="val 20000"/>
            </a:avLst>
          </a:prstGeom>
          <a:solidFill>
            <a:srgbClr val="EAF0FB"/>
          </a:solidFill>
          <a:ln/>
        </p:spPr>
        <p:txBody>
          <a:bodyPr/>
          <a:lstStyle/>
          <a:p>
            <a:endParaRPr lang="en-US"/>
          </a:p>
        </p:txBody>
      </p:sp>
      <p:sp>
        <p:nvSpPr>
          <p:cNvPr id="30" name="Text 28"/>
          <p:cNvSpPr/>
          <p:nvPr/>
        </p:nvSpPr>
        <p:spPr>
          <a:xfrm>
            <a:off x="1051560" y="4178808"/>
            <a:ext cx="4434840" cy="475488"/>
          </a:xfrm>
          <a:prstGeom prst="rect">
            <a:avLst/>
          </a:prstGeom>
          <a:noFill/>
          <a:ln/>
        </p:spPr>
        <p:txBody>
          <a:bodyPr wrap="square" rtlCol="0" anchor="ctr"/>
          <a:lstStyle/>
          <a:p>
            <a:pPr marL="0" indent="0">
              <a:buNone/>
            </a:pPr>
            <a:r>
              <a:rPr lang="en-US" sz="1250" dirty="0">
                <a:solidFill>
                  <a:srgbClr val="0B1626"/>
                </a:solidFill>
                <a:latin typeface="Calibri" pitchFamily="34" charset="0"/>
                <a:ea typeface="Calibri" pitchFamily="34" charset="-122"/>
                <a:cs typeface="Calibri" pitchFamily="34" charset="-120"/>
              </a:rPr>
              <a:t>Sender signature block</a:t>
            </a:r>
            <a:endParaRPr lang="en-US" sz="1250" dirty="0"/>
          </a:p>
        </p:txBody>
      </p:sp>
      <p:sp>
        <p:nvSpPr>
          <p:cNvPr id="31" name="Shape 29"/>
          <p:cNvSpPr/>
          <p:nvPr/>
        </p:nvSpPr>
        <p:spPr>
          <a:xfrm>
            <a:off x="5989320" y="4178808"/>
            <a:ext cx="5074920" cy="475488"/>
          </a:xfrm>
          <a:prstGeom prst="roundRect">
            <a:avLst>
              <a:gd name="adj" fmla="val 13462"/>
            </a:avLst>
          </a:prstGeom>
          <a:solidFill>
            <a:srgbClr val="FFFFFF"/>
          </a:solidFill>
          <a:ln w="12700">
            <a:solidFill>
              <a:srgbClr val="E2E7F0"/>
            </a:solidFill>
            <a:prstDash val="solid"/>
          </a:ln>
        </p:spPr>
        <p:txBody>
          <a:bodyPr/>
          <a:lstStyle/>
          <a:p>
            <a:endParaRPr lang="en-US"/>
          </a:p>
        </p:txBody>
      </p:sp>
      <p:sp>
        <p:nvSpPr>
          <p:cNvPr id="32" name="Shape 30"/>
          <p:cNvSpPr/>
          <p:nvPr/>
        </p:nvSpPr>
        <p:spPr>
          <a:xfrm>
            <a:off x="6099048" y="4279392"/>
            <a:ext cx="274320" cy="274320"/>
          </a:xfrm>
          <a:prstGeom prst="roundRect">
            <a:avLst>
              <a:gd name="adj" fmla="val 20000"/>
            </a:avLst>
          </a:prstGeom>
          <a:solidFill>
            <a:srgbClr val="EAF0FB"/>
          </a:solidFill>
          <a:ln/>
        </p:spPr>
        <p:txBody>
          <a:bodyPr/>
          <a:lstStyle/>
          <a:p>
            <a:endParaRPr lang="en-US"/>
          </a:p>
        </p:txBody>
      </p:sp>
      <p:sp>
        <p:nvSpPr>
          <p:cNvPr id="33" name="Text 31"/>
          <p:cNvSpPr/>
          <p:nvPr/>
        </p:nvSpPr>
        <p:spPr>
          <a:xfrm>
            <a:off x="6492240" y="4178808"/>
            <a:ext cx="4434840" cy="475488"/>
          </a:xfrm>
          <a:prstGeom prst="rect">
            <a:avLst/>
          </a:prstGeom>
          <a:noFill/>
          <a:ln/>
        </p:spPr>
        <p:txBody>
          <a:bodyPr wrap="square" rtlCol="0" anchor="ctr"/>
          <a:lstStyle/>
          <a:p>
            <a:pPr marL="0" indent="0">
              <a:buNone/>
            </a:pPr>
            <a:r>
              <a:rPr lang="en-US" sz="1250" dirty="0">
                <a:solidFill>
                  <a:srgbClr val="0B1626"/>
                </a:solidFill>
                <a:latin typeface="Calibri" pitchFamily="34" charset="0"/>
                <a:ea typeface="Calibri" pitchFamily="34" charset="-122"/>
                <a:cs typeface="Calibri" pitchFamily="34" charset="-120"/>
              </a:rPr>
              <a:t>HTML body with hidden content</a:t>
            </a:r>
            <a:endParaRPr lang="en-US" sz="1250" dirty="0"/>
          </a:p>
        </p:txBody>
      </p:sp>
      <p:sp>
        <p:nvSpPr>
          <p:cNvPr id="34" name="Shape 32"/>
          <p:cNvSpPr/>
          <p:nvPr/>
        </p:nvSpPr>
        <p:spPr>
          <a:xfrm>
            <a:off x="548640" y="5623560"/>
            <a:ext cx="11064240" cy="685800"/>
          </a:xfrm>
          <a:prstGeom prst="roundRect">
            <a:avLst>
              <a:gd name="adj" fmla="val 10667"/>
            </a:avLst>
          </a:prstGeom>
          <a:solidFill>
            <a:srgbClr val="12213A"/>
          </a:solidFill>
          <a:ln/>
        </p:spPr>
        <p:txBody>
          <a:bodyPr/>
          <a:lstStyle/>
          <a:p>
            <a:endParaRPr lang="en-US"/>
          </a:p>
        </p:txBody>
      </p:sp>
      <p:sp>
        <p:nvSpPr>
          <p:cNvPr id="35" name="Text 33"/>
          <p:cNvSpPr/>
          <p:nvPr/>
        </p:nvSpPr>
        <p:spPr>
          <a:xfrm>
            <a:off x="777240" y="5705856"/>
            <a:ext cx="1828800" cy="274320"/>
          </a:xfrm>
          <a:prstGeom prst="rect">
            <a:avLst/>
          </a:prstGeom>
          <a:noFill/>
          <a:ln/>
        </p:spPr>
        <p:txBody>
          <a:bodyPr wrap="square" rtlCol="0" anchor="ctr"/>
          <a:lstStyle/>
          <a:p>
            <a:pPr marL="0" indent="0">
              <a:buNone/>
            </a:pPr>
            <a:r>
              <a:rPr lang="en-US" sz="1100" b="1" kern="0" spc="100" dirty="0">
                <a:solidFill>
                  <a:srgbClr val="F2A93B"/>
                </a:solidFill>
                <a:latin typeface="Calibri" pitchFamily="34" charset="0"/>
                <a:ea typeface="Calibri" pitchFamily="34" charset="-122"/>
                <a:cs typeface="Calibri" pitchFamily="34" charset="-120"/>
              </a:rPr>
              <a:t>SUGGESTED TOOLS</a:t>
            </a:r>
            <a:endParaRPr lang="en-US" sz="1100" dirty="0"/>
          </a:p>
        </p:txBody>
      </p:sp>
      <p:sp>
        <p:nvSpPr>
          <p:cNvPr id="36" name="Text 34"/>
          <p:cNvSpPr/>
          <p:nvPr/>
        </p:nvSpPr>
        <p:spPr>
          <a:xfrm>
            <a:off x="777240" y="5943600"/>
            <a:ext cx="10515600" cy="3200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Email Header Analyzer  ·  URLHaus  ·  URLScan.io  ·  VirusTotal  ·  MalwareBazaar  ·  VMRay</a:t>
            </a:r>
            <a:endParaRPr lang="en-US" sz="1250" dirty="0"/>
          </a:p>
        </p:txBody>
      </p:sp>
      <p:sp>
        <p:nvSpPr>
          <p:cNvPr id="37" name="Text 35"/>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9AA7BB"/>
                </a:solidFill>
                <a:latin typeface="Calibri" pitchFamily="34" charset="0"/>
                <a:ea typeface="Calibri" pitchFamily="34" charset="-122"/>
                <a:cs typeface="Calibri" pitchFamily="34" charset="-120"/>
              </a:rPr>
              <a:t>Primary Hands-on Activity</a:t>
            </a:r>
            <a:endParaRPr lang="en-US" sz="1000" dirty="0"/>
          </a:p>
        </p:txBody>
      </p:sp>
      <p:sp>
        <p:nvSpPr>
          <p:cNvPr id="38" name="Text 36"/>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9AA7BB"/>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B162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Lab</a:t>
            </a:r>
          </a:p>
        </p:txBody>
      </p:sp>
      <p:sp>
        <p:nvSpPr>
          <p:cNvPr id="3" name="Shape 1"/>
          <p:cNvSpPr/>
          <p:nvPr/>
        </p:nvSpPr>
        <p:spPr>
          <a:xfrm>
            <a:off x="1805940" y="3657600"/>
            <a:ext cx="8311896" cy="0"/>
          </a:xfrm>
          <a:prstGeom prst="line">
            <a:avLst/>
          </a:prstGeom>
          <a:noFill/>
          <a:ln w="25400">
            <a:solidFill>
              <a:srgbClr val="2A3A54"/>
            </a:solidFill>
            <a:prstDash val="dash"/>
          </a:ln>
        </p:spPr>
        <p:txBody>
          <a:bodyPr/>
          <a:lstStyle/>
          <a:p>
            <a:endParaRPr lang="en-US"/>
          </a:p>
        </p:txBody>
      </p:sp>
      <p:sp>
        <p:nvSpPr>
          <p:cNvPr id="4" name="Shape 2"/>
          <p:cNvSpPr/>
          <p:nvPr/>
        </p:nvSpPr>
        <p:spPr>
          <a:xfrm>
            <a:off x="548640" y="1828800"/>
            <a:ext cx="2514600" cy="3657600"/>
          </a:xfrm>
          <a:prstGeom prst="roundRect">
            <a:avLst>
              <a:gd name="adj" fmla="val 3636"/>
            </a:avLst>
          </a:prstGeom>
          <a:solidFill>
            <a:srgbClr val="16233B"/>
          </a:solidFill>
          <a:ln/>
        </p:spPr>
        <p:txBody>
          <a:bodyPr/>
          <a:lstStyle/>
          <a:p>
            <a:endParaRPr lang="en-US"/>
          </a:p>
        </p:txBody>
      </p:sp>
      <p:sp>
        <p:nvSpPr>
          <p:cNvPr id="5" name="Shape 3"/>
          <p:cNvSpPr/>
          <p:nvPr/>
        </p:nvSpPr>
        <p:spPr>
          <a:xfrm>
            <a:off x="1394460" y="2148840"/>
            <a:ext cx="822960" cy="822960"/>
          </a:xfrm>
          <a:prstGeom prst="ellipse">
            <a:avLst/>
          </a:prstGeom>
          <a:solidFill>
            <a:srgbClr val="1E2C49"/>
          </a:solidFill>
          <a:ln/>
        </p:spPr>
        <p:txBody>
          <a:bodyPr/>
          <a:lstStyle/>
          <a:p>
            <a:endParaRPr lang="en-US"/>
          </a:p>
        </p:txBody>
      </p:sp>
      <p:pic>
        <p:nvPicPr>
          <p:cNvPr id="6" name="Image 0" descr="icon_file.png"/>
          <p:cNvPicPr>
            <a:picLocks noChangeAspect="1"/>
          </p:cNvPicPr>
          <p:nvPr/>
        </p:nvPicPr>
        <p:blipFill>
          <a:blip r:embed="rId3"/>
          <a:stretch>
            <a:fillRect/>
          </a:stretch>
        </p:blipFill>
        <p:spPr>
          <a:xfrm>
            <a:off x="1600200" y="2354580"/>
            <a:ext cx="411480" cy="411480"/>
          </a:xfrm>
          <a:prstGeom prst="rect">
            <a:avLst/>
          </a:prstGeom>
        </p:spPr>
      </p:pic>
      <p:sp>
        <p:nvSpPr>
          <p:cNvPr id="7" name="Text 4"/>
          <p:cNvSpPr/>
          <p:nvPr/>
        </p:nvSpPr>
        <p:spPr>
          <a:xfrm>
            <a:off x="548640" y="3200400"/>
            <a:ext cx="2514600" cy="320040"/>
          </a:xfrm>
          <a:prstGeom prst="rect">
            <a:avLst/>
          </a:prstGeom>
          <a:noFill/>
          <a:ln/>
        </p:spPr>
        <p:txBody>
          <a:bodyPr wrap="square" rtlCol="0" anchor="ctr"/>
          <a:lstStyle/>
          <a:p>
            <a:pPr marL="0" indent="0" algn="ctr">
              <a:buNone/>
            </a:pPr>
            <a:r>
              <a:rPr lang="en-US" sz="1300" b="1" kern="0" spc="150" dirty="0">
                <a:solidFill>
                  <a:srgbClr val="F2A93B"/>
                </a:solidFill>
                <a:latin typeface="Calibri" pitchFamily="34" charset="0"/>
                <a:ea typeface="Calibri" pitchFamily="34" charset="-122"/>
                <a:cs typeface="Calibri" pitchFamily="34" charset="-120"/>
              </a:rPr>
              <a:t>1 - 30 Min</a:t>
            </a:r>
            <a:endParaRPr lang="en-US" sz="1300" dirty="0"/>
          </a:p>
        </p:txBody>
      </p:sp>
      <p:sp>
        <p:nvSpPr>
          <p:cNvPr id="8" name="Text 5"/>
          <p:cNvSpPr/>
          <p:nvPr/>
        </p:nvSpPr>
        <p:spPr>
          <a:xfrm>
            <a:off x="685800" y="3566160"/>
            <a:ext cx="2240280" cy="1463040"/>
          </a:xfrm>
          <a:prstGeom prst="rect">
            <a:avLst/>
          </a:prstGeom>
          <a:noFill/>
          <a:ln/>
        </p:spPr>
        <p:txBody>
          <a:bodyPr wrap="square" rtlCol="0" anchor="t"/>
          <a:lstStyle/>
          <a:p>
            <a:pPr marL="0" indent="0" algn="ctr">
              <a:buNone/>
            </a:pPr>
            <a:r>
              <a:rPr lang="en-US" sz="1450" b="1" dirty="0">
                <a:solidFill>
                  <a:srgbClr val="FFFFFF"/>
                </a:solidFill>
                <a:latin typeface="Calibri" pitchFamily="34" charset="0"/>
                <a:ea typeface="Calibri" pitchFamily="34" charset="-122"/>
                <a:cs typeface="Calibri" pitchFamily="34" charset="-120"/>
              </a:rPr>
              <a:t>Case Intake &amp;</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Evidence Familiarization</a:t>
            </a:r>
            <a:endParaRPr lang="en-US" sz="1450" dirty="0"/>
          </a:p>
        </p:txBody>
      </p:sp>
      <p:sp>
        <p:nvSpPr>
          <p:cNvPr id="9" name="Shape 6"/>
          <p:cNvSpPr/>
          <p:nvPr/>
        </p:nvSpPr>
        <p:spPr>
          <a:xfrm>
            <a:off x="3319272" y="1828800"/>
            <a:ext cx="2514600" cy="3657600"/>
          </a:xfrm>
          <a:prstGeom prst="roundRect">
            <a:avLst>
              <a:gd name="adj" fmla="val 3636"/>
            </a:avLst>
          </a:prstGeom>
          <a:solidFill>
            <a:srgbClr val="16233B"/>
          </a:solidFill>
          <a:ln/>
        </p:spPr>
        <p:txBody>
          <a:bodyPr/>
          <a:lstStyle/>
          <a:p>
            <a:endParaRPr lang="en-US"/>
          </a:p>
        </p:txBody>
      </p:sp>
      <p:sp>
        <p:nvSpPr>
          <p:cNvPr id="10" name="Shape 7"/>
          <p:cNvSpPr/>
          <p:nvPr/>
        </p:nvSpPr>
        <p:spPr>
          <a:xfrm>
            <a:off x="4165092" y="2148840"/>
            <a:ext cx="822960" cy="822960"/>
          </a:xfrm>
          <a:prstGeom prst="ellipse">
            <a:avLst/>
          </a:prstGeom>
          <a:solidFill>
            <a:srgbClr val="1E2C49"/>
          </a:solidFill>
          <a:ln/>
        </p:spPr>
        <p:txBody>
          <a:bodyPr/>
          <a:lstStyle/>
          <a:p>
            <a:endParaRPr lang="en-US"/>
          </a:p>
        </p:txBody>
      </p:sp>
      <p:pic>
        <p:nvPicPr>
          <p:cNvPr id="11" name="Image 1" descr="icon_clock.png"/>
          <p:cNvPicPr>
            <a:picLocks noChangeAspect="1"/>
          </p:cNvPicPr>
          <p:nvPr/>
        </p:nvPicPr>
        <p:blipFill>
          <a:blip r:embed="rId4"/>
          <a:stretch>
            <a:fillRect/>
          </a:stretch>
        </p:blipFill>
        <p:spPr>
          <a:xfrm>
            <a:off x="4370832" y="2354580"/>
            <a:ext cx="411480" cy="411480"/>
          </a:xfrm>
          <a:prstGeom prst="rect">
            <a:avLst/>
          </a:prstGeom>
        </p:spPr>
      </p:pic>
      <p:sp>
        <p:nvSpPr>
          <p:cNvPr id="12" name="Text 8"/>
          <p:cNvSpPr/>
          <p:nvPr/>
        </p:nvSpPr>
        <p:spPr>
          <a:xfrm>
            <a:off x="3319272" y="3200400"/>
            <a:ext cx="2514600" cy="320040"/>
          </a:xfrm>
          <a:prstGeom prst="rect">
            <a:avLst/>
          </a:prstGeom>
          <a:noFill/>
          <a:ln/>
        </p:spPr>
        <p:txBody>
          <a:bodyPr wrap="square" rtlCol="0" anchor="ctr"/>
          <a:lstStyle/>
          <a:p>
            <a:pPr algn="ctr"/>
            <a:r>
              <a:rPr lang="en-US" sz="1300" b="1" kern="0" spc="150" dirty="0">
                <a:solidFill>
                  <a:srgbClr val="F2A93B"/>
                </a:solidFill>
                <a:latin typeface="Calibri" pitchFamily="34" charset="0"/>
                <a:ea typeface="Calibri" pitchFamily="34" charset="-122"/>
                <a:cs typeface="Calibri" pitchFamily="34" charset="-120"/>
              </a:rPr>
              <a:t>2 - 30 Min</a:t>
            </a:r>
            <a:endParaRPr lang="en-US" sz="1300" dirty="0"/>
          </a:p>
        </p:txBody>
      </p:sp>
      <p:sp>
        <p:nvSpPr>
          <p:cNvPr id="13" name="Text 9"/>
          <p:cNvSpPr/>
          <p:nvPr/>
        </p:nvSpPr>
        <p:spPr>
          <a:xfrm>
            <a:off x="3456432" y="3566160"/>
            <a:ext cx="2240280" cy="1463040"/>
          </a:xfrm>
          <a:prstGeom prst="rect">
            <a:avLst/>
          </a:prstGeom>
          <a:noFill/>
          <a:ln/>
        </p:spPr>
        <p:txBody>
          <a:bodyPr wrap="square" rtlCol="0" anchor="t"/>
          <a:lstStyle/>
          <a:p>
            <a:pPr marL="0" indent="0" algn="ctr">
              <a:buNone/>
            </a:pPr>
            <a:r>
              <a:rPr lang="en-US" sz="1450" b="1" dirty="0">
                <a:solidFill>
                  <a:srgbClr val="FFFFFF"/>
                </a:solidFill>
                <a:latin typeface="Calibri" pitchFamily="34" charset="0"/>
                <a:ea typeface="Calibri" pitchFamily="34" charset="-122"/>
                <a:cs typeface="Calibri" pitchFamily="34" charset="-120"/>
              </a:rPr>
              <a:t>Event Classification &amp;</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Timeline Building</a:t>
            </a:r>
            <a:endParaRPr lang="en-US" sz="1450" dirty="0"/>
          </a:p>
        </p:txBody>
      </p:sp>
      <p:sp>
        <p:nvSpPr>
          <p:cNvPr id="14" name="Shape 10"/>
          <p:cNvSpPr/>
          <p:nvPr/>
        </p:nvSpPr>
        <p:spPr>
          <a:xfrm>
            <a:off x="6089904" y="1828800"/>
            <a:ext cx="2514600" cy="3657600"/>
          </a:xfrm>
          <a:prstGeom prst="roundRect">
            <a:avLst>
              <a:gd name="adj" fmla="val 3636"/>
            </a:avLst>
          </a:prstGeom>
          <a:solidFill>
            <a:srgbClr val="16233B"/>
          </a:solidFill>
          <a:ln/>
        </p:spPr>
        <p:txBody>
          <a:bodyPr/>
          <a:lstStyle/>
          <a:p>
            <a:endParaRPr lang="en-US"/>
          </a:p>
        </p:txBody>
      </p:sp>
      <p:sp>
        <p:nvSpPr>
          <p:cNvPr id="15" name="Shape 11"/>
          <p:cNvSpPr/>
          <p:nvPr/>
        </p:nvSpPr>
        <p:spPr>
          <a:xfrm>
            <a:off x="6935724" y="2148840"/>
            <a:ext cx="822960" cy="822960"/>
          </a:xfrm>
          <a:prstGeom prst="ellipse">
            <a:avLst/>
          </a:prstGeom>
          <a:solidFill>
            <a:srgbClr val="1E2C49"/>
          </a:solidFill>
          <a:ln/>
        </p:spPr>
        <p:txBody>
          <a:bodyPr/>
          <a:lstStyle/>
          <a:p>
            <a:endParaRPr lang="en-US"/>
          </a:p>
        </p:txBody>
      </p:sp>
      <p:pic>
        <p:nvPicPr>
          <p:cNvPr id="16" name="Image 2" descr="icon_search.png"/>
          <p:cNvPicPr>
            <a:picLocks noChangeAspect="1"/>
          </p:cNvPicPr>
          <p:nvPr/>
        </p:nvPicPr>
        <p:blipFill>
          <a:blip r:embed="rId5"/>
          <a:stretch>
            <a:fillRect/>
          </a:stretch>
        </p:blipFill>
        <p:spPr>
          <a:xfrm>
            <a:off x="7141464" y="2354580"/>
            <a:ext cx="411480" cy="411480"/>
          </a:xfrm>
          <a:prstGeom prst="rect">
            <a:avLst/>
          </a:prstGeom>
        </p:spPr>
      </p:pic>
      <p:sp>
        <p:nvSpPr>
          <p:cNvPr id="17" name="Text 12"/>
          <p:cNvSpPr/>
          <p:nvPr/>
        </p:nvSpPr>
        <p:spPr>
          <a:xfrm>
            <a:off x="6089904" y="3200400"/>
            <a:ext cx="2514600" cy="320040"/>
          </a:xfrm>
          <a:prstGeom prst="rect">
            <a:avLst/>
          </a:prstGeom>
          <a:noFill/>
          <a:ln/>
        </p:spPr>
        <p:txBody>
          <a:bodyPr wrap="square" rtlCol="0" anchor="ctr"/>
          <a:lstStyle/>
          <a:p>
            <a:pPr algn="ctr"/>
            <a:r>
              <a:rPr lang="en-US" sz="1300" b="1" kern="0" spc="150" dirty="0">
                <a:solidFill>
                  <a:srgbClr val="F2A93B"/>
                </a:solidFill>
                <a:latin typeface="Calibri" pitchFamily="34" charset="0"/>
                <a:ea typeface="Calibri" pitchFamily="34" charset="-122"/>
                <a:cs typeface="Calibri" pitchFamily="34" charset="-120"/>
              </a:rPr>
              <a:t>3 - 30 Min</a:t>
            </a:r>
            <a:endParaRPr lang="en-US" sz="1300" dirty="0"/>
          </a:p>
        </p:txBody>
      </p:sp>
      <p:sp>
        <p:nvSpPr>
          <p:cNvPr id="18" name="Text 13"/>
          <p:cNvSpPr/>
          <p:nvPr/>
        </p:nvSpPr>
        <p:spPr>
          <a:xfrm>
            <a:off x="6227064" y="3566160"/>
            <a:ext cx="2240280" cy="1463040"/>
          </a:xfrm>
          <a:prstGeom prst="rect">
            <a:avLst/>
          </a:prstGeom>
          <a:noFill/>
          <a:ln/>
        </p:spPr>
        <p:txBody>
          <a:bodyPr wrap="square" rtlCol="0" anchor="t"/>
          <a:lstStyle/>
          <a:p>
            <a:pPr marL="0" indent="0" algn="ctr">
              <a:buNone/>
            </a:pPr>
            <a:r>
              <a:rPr lang="en-US" sz="1450" b="1" dirty="0">
                <a:solidFill>
                  <a:srgbClr val="FFFFFF"/>
                </a:solidFill>
                <a:latin typeface="Calibri" pitchFamily="34" charset="0"/>
                <a:ea typeface="Calibri" pitchFamily="34" charset="-122"/>
                <a:cs typeface="Calibri" pitchFamily="34" charset="-120"/>
              </a:rPr>
              <a:t>Intel Validation &amp;</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Containment Scoping</a:t>
            </a:r>
            <a:endParaRPr lang="en-US" sz="1450" dirty="0"/>
          </a:p>
        </p:txBody>
      </p:sp>
      <p:sp>
        <p:nvSpPr>
          <p:cNvPr id="19" name="Shape 14"/>
          <p:cNvSpPr/>
          <p:nvPr/>
        </p:nvSpPr>
        <p:spPr>
          <a:xfrm>
            <a:off x="8860536" y="1828800"/>
            <a:ext cx="2514600" cy="3657600"/>
          </a:xfrm>
          <a:prstGeom prst="roundRect">
            <a:avLst>
              <a:gd name="adj" fmla="val 3636"/>
            </a:avLst>
          </a:prstGeom>
          <a:solidFill>
            <a:srgbClr val="16233B"/>
          </a:solidFill>
          <a:ln/>
        </p:spPr>
        <p:txBody>
          <a:bodyPr/>
          <a:lstStyle/>
          <a:p>
            <a:endParaRPr lang="en-US"/>
          </a:p>
        </p:txBody>
      </p:sp>
      <p:sp>
        <p:nvSpPr>
          <p:cNvPr id="20" name="Shape 15"/>
          <p:cNvSpPr/>
          <p:nvPr/>
        </p:nvSpPr>
        <p:spPr>
          <a:xfrm>
            <a:off x="9706356" y="2148840"/>
            <a:ext cx="822960" cy="822960"/>
          </a:xfrm>
          <a:prstGeom prst="ellipse">
            <a:avLst/>
          </a:prstGeom>
          <a:solidFill>
            <a:srgbClr val="1E2C49"/>
          </a:solidFill>
          <a:ln/>
        </p:spPr>
        <p:txBody>
          <a:bodyPr/>
          <a:lstStyle/>
          <a:p>
            <a:endParaRPr lang="en-US"/>
          </a:p>
        </p:txBody>
      </p:sp>
      <p:pic>
        <p:nvPicPr>
          <p:cNvPr id="21" name="Image 3" descr="icon_bullhorn.png"/>
          <p:cNvPicPr>
            <a:picLocks noChangeAspect="1"/>
          </p:cNvPicPr>
          <p:nvPr/>
        </p:nvPicPr>
        <p:blipFill>
          <a:blip r:embed="rId6"/>
          <a:stretch>
            <a:fillRect/>
          </a:stretch>
        </p:blipFill>
        <p:spPr>
          <a:xfrm>
            <a:off x="9912096" y="2354580"/>
            <a:ext cx="411480" cy="411480"/>
          </a:xfrm>
          <a:prstGeom prst="rect">
            <a:avLst/>
          </a:prstGeom>
        </p:spPr>
      </p:pic>
      <p:sp>
        <p:nvSpPr>
          <p:cNvPr id="22" name="Text 16"/>
          <p:cNvSpPr/>
          <p:nvPr/>
        </p:nvSpPr>
        <p:spPr>
          <a:xfrm>
            <a:off x="8860536" y="3200400"/>
            <a:ext cx="2514600" cy="320040"/>
          </a:xfrm>
          <a:prstGeom prst="rect">
            <a:avLst/>
          </a:prstGeom>
          <a:noFill/>
          <a:ln/>
        </p:spPr>
        <p:txBody>
          <a:bodyPr wrap="square" rtlCol="0" anchor="ctr"/>
          <a:lstStyle/>
          <a:p>
            <a:pPr algn="ctr"/>
            <a:r>
              <a:rPr lang="en-US" sz="1300" b="1" kern="0" spc="150" dirty="0">
                <a:solidFill>
                  <a:srgbClr val="F2A93B"/>
                </a:solidFill>
                <a:latin typeface="Calibri" pitchFamily="34" charset="0"/>
                <a:ea typeface="Calibri" pitchFamily="34" charset="-122"/>
                <a:cs typeface="Calibri" pitchFamily="34" charset="-120"/>
              </a:rPr>
              <a:t>4 - 30 Min</a:t>
            </a:r>
            <a:endParaRPr lang="en-US" sz="1300" dirty="0"/>
          </a:p>
        </p:txBody>
      </p:sp>
      <p:sp>
        <p:nvSpPr>
          <p:cNvPr id="23" name="Text 17"/>
          <p:cNvSpPr/>
          <p:nvPr/>
        </p:nvSpPr>
        <p:spPr>
          <a:xfrm>
            <a:off x="8997696" y="3566160"/>
            <a:ext cx="2240280" cy="1463040"/>
          </a:xfrm>
          <a:prstGeom prst="rect">
            <a:avLst/>
          </a:prstGeom>
          <a:noFill/>
          <a:ln/>
        </p:spPr>
        <p:txBody>
          <a:bodyPr wrap="square" rtlCol="0" anchor="t"/>
          <a:lstStyle/>
          <a:p>
            <a:pPr marL="0" indent="0" algn="ctr">
              <a:buNone/>
            </a:pPr>
            <a:r>
              <a:rPr lang="en-US" sz="1450" b="1" dirty="0">
                <a:solidFill>
                  <a:srgbClr val="FFFFFF"/>
                </a:solidFill>
                <a:latin typeface="Calibri" pitchFamily="34" charset="0"/>
                <a:ea typeface="Calibri" pitchFamily="34" charset="-122"/>
                <a:cs typeface="Calibri" pitchFamily="34" charset="-120"/>
              </a:rPr>
              <a:t>Response Decision &amp;</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Briefing</a:t>
            </a:r>
            <a:endParaRPr lang="en-US" sz="1450" dirty="0"/>
          </a:p>
        </p:txBody>
      </p:sp>
      <p:sp>
        <p:nvSpPr>
          <p:cNvPr id="24" name="Text 18"/>
          <p:cNvSpPr/>
          <p:nvPr/>
        </p:nvSpPr>
        <p:spPr>
          <a:xfrm>
            <a:off x="548640" y="5760720"/>
            <a:ext cx="11064240" cy="548640"/>
          </a:xfrm>
          <a:prstGeom prst="rect">
            <a:avLst/>
          </a:prstGeom>
          <a:noFill/>
          <a:ln/>
        </p:spPr>
        <p:txBody>
          <a:bodyPr wrap="square" rtlCol="0" anchor="ctr"/>
          <a:lstStyle/>
          <a:p>
            <a:pPr marL="0" indent="0">
              <a:buNone/>
            </a:pPr>
            <a:r>
              <a:rPr lang="en-US" sz="1250" i="1" dirty="0">
                <a:solidFill>
                  <a:srgbClr val="9AA7BB"/>
                </a:solidFill>
                <a:latin typeface="Calibri" pitchFamily="34" charset="0"/>
                <a:ea typeface="Calibri" pitchFamily="34" charset="-122"/>
                <a:cs typeface="Calibri" pitchFamily="34" charset="-120"/>
              </a:rPr>
              <a:t>Each min builds directly on the last — intake feeds the timeline, the timeline anchors intel validation, and validated intel drives the containment and eradication decision.</a:t>
            </a:r>
            <a:endParaRPr lang="en-US" sz="1250" dirty="0"/>
          </a:p>
        </p:txBody>
      </p:sp>
      <p:sp>
        <p:nvSpPr>
          <p:cNvPr id="25" name="Text 19"/>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E7F9C"/>
                </a:solidFill>
                <a:latin typeface="Calibri" pitchFamily="34" charset="0"/>
                <a:ea typeface="Calibri" pitchFamily="34" charset="-122"/>
                <a:cs typeface="Calibri" pitchFamily="34" charset="-120"/>
              </a:rPr>
              <a:t>Lab Flow</a:t>
            </a:r>
            <a:endParaRPr lang="en-US" sz="1000" dirty="0"/>
          </a:p>
        </p:txBody>
      </p:sp>
      <p:sp>
        <p:nvSpPr>
          <p:cNvPr id="26" name="Text 20"/>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6E7F9C"/>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oundRect">
            <a:avLst/>
          </a:prstGeom>
          <a:solidFill>
            <a:srgbClr val="0B1626"/>
          </a:solidFill>
          <a:ln/>
        </p:spPr>
        <p:txBody>
          <a:bodyPr/>
          <a:lstStyle/>
          <a:p>
            <a:endParaRPr lang="en-US"/>
          </a:p>
        </p:txBody>
      </p:sp>
      <p:sp>
        <p:nvSpPr>
          <p:cNvPr id="3" name="Shape 1"/>
          <p:cNvSpPr/>
          <p:nvPr/>
        </p:nvSpPr>
        <p:spPr>
          <a:xfrm>
            <a:off x="640080" y="731520"/>
            <a:ext cx="1005840" cy="1005840"/>
          </a:xfrm>
          <a:prstGeom prst="ellipse">
            <a:avLst/>
          </a:prstGeom>
          <a:solidFill>
            <a:srgbClr val="16233B"/>
          </a:solidFill>
          <a:ln/>
        </p:spPr>
        <p:txBody>
          <a:bodyPr/>
          <a:lstStyle/>
          <a:p>
            <a:endParaRPr lang="en-US"/>
          </a:p>
        </p:txBody>
      </p:sp>
      <p:pic>
        <p:nvPicPr>
          <p:cNvPr id="4" name="Image 0" descr="icon_file.png"/>
          <p:cNvPicPr>
            <a:picLocks noChangeAspect="1"/>
          </p:cNvPicPr>
          <p:nvPr/>
        </p:nvPicPr>
        <p:blipFill>
          <a:blip r:embed="rId3"/>
          <a:stretch>
            <a:fillRect/>
          </a:stretch>
        </p:blipFill>
        <p:spPr>
          <a:xfrm>
            <a:off x="891540" y="982980"/>
            <a:ext cx="502920" cy="502920"/>
          </a:xfrm>
          <a:prstGeom prst="rect">
            <a:avLst/>
          </a:prstGeom>
        </p:spPr>
      </p:pic>
      <p:sp>
        <p:nvSpPr>
          <p:cNvPr id="5" name="Text 2"/>
          <p:cNvSpPr/>
          <p:nvPr/>
        </p:nvSpPr>
        <p:spPr>
          <a:xfrm>
            <a:off x="640080" y="1920240"/>
            <a:ext cx="2743200" cy="365760"/>
          </a:xfrm>
          <a:prstGeom prst="rect">
            <a:avLst/>
          </a:prstGeom>
          <a:noFill/>
          <a:ln/>
        </p:spPr>
        <p:txBody>
          <a:bodyPr wrap="square" rtlCol="0" anchor="ctr"/>
          <a:lstStyle/>
          <a:p>
            <a:pPr marL="0" indent="0">
              <a:buNone/>
            </a:pPr>
            <a:r>
              <a:rPr lang="en-US" sz="1400" b="1" kern="0" spc="150" dirty="0">
                <a:solidFill>
                  <a:srgbClr val="F2A93B"/>
                </a:solidFill>
                <a:latin typeface="Calibri" pitchFamily="34" charset="0"/>
                <a:ea typeface="Calibri" pitchFamily="34" charset="-122"/>
                <a:cs typeface="Calibri" pitchFamily="34" charset="-120"/>
              </a:rPr>
              <a:t>1 - 30 Min</a:t>
            </a:r>
            <a:endParaRPr lang="en-US" sz="1400" dirty="0"/>
          </a:p>
        </p:txBody>
      </p:sp>
      <p:sp>
        <p:nvSpPr>
          <p:cNvPr id="6" name="Text 3"/>
          <p:cNvSpPr/>
          <p:nvPr/>
        </p:nvSpPr>
        <p:spPr>
          <a:xfrm>
            <a:off x="640080" y="2286000"/>
            <a:ext cx="2834640" cy="1554480"/>
          </a:xfrm>
          <a:prstGeom prst="rect">
            <a:avLst/>
          </a:prstGeom>
          <a:noFill/>
          <a:ln/>
        </p:spPr>
        <p:txBody>
          <a:bodyPr wrap="square"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Case Intake &amp;</a:t>
            </a:r>
            <a:endParaRPr lang="en-US" sz="2400" dirty="0"/>
          </a:p>
          <a:p>
            <a:pPr marL="0" indent="0">
              <a:buNone/>
            </a:pPr>
            <a:r>
              <a:rPr lang="en-US" sz="2400" b="1" dirty="0">
                <a:solidFill>
                  <a:srgbClr val="FFFFFF"/>
                </a:solidFill>
                <a:latin typeface="Cambria" pitchFamily="34" charset="0"/>
                <a:ea typeface="Cambria" pitchFamily="34" charset="-122"/>
                <a:cs typeface="Cambria" pitchFamily="34" charset="-120"/>
              </a:rPr>
              <a:t>Evidence Familiarization</a:t>
            </a:r>
            <a:endParaRPr lang="en-US" sz="2400" dirty="0"/>
          </a:p>
        </p:txBody>
      </p:sp>
      <p:sp>
        <p:nvSpPr>
          <p:cNvPr id="7" name="Shape 4"/>
          <p:cNvSpPr/>
          <p:nvPr/>
        </p:nvSpPr>
        <p:spPr>
          <a:xfrm>
            <a:off x="640080" y="5120640"/>
            <a:ext cx="2377440" cy="502920"/>
          </a:xfrm>
          <a:prstGeom prst="roundRect">
            <a:avLst>
              <a:gd name="adj" fmla="val 50909"/>
            </a:avLst>
          </a:prstGeom>
          <a:solidFill>
            <a:srgbClr val="1E2C49"/>
          </a:solidFill>
          <a:ln/>
        </p:spPr>
        <p:txBody>
          <a:bodyPr/>
          <a:lstStyle/>
          <a:p>
            <a:endParaRPr lang="en-US"/>
          </a:p>
        </p:txBody>
      </p:sp>
      <p:sp>
        <p:nvSpPr>
          <p:cNvPr id="8" name="Text 5"/>
          <p:cNvSpPr/>
          <p:nvPr/>
        </p:nvSpPr>
        <p:spPr>
          <a:xfrm>
            <a:off x="640080" y="5120640"/>
            <a:ext cx="2377440" cy="502920"/>
          </a:xfrm>
          <a:prstGeom prst="rect">
            <a:avLst/>
          </a:prstGeom>
          <a:noFill/>
          <a:ln/>
        </p:spPr>
        <p:txBody>
          <a:bodyPr wrap="square" rtlCol="0" anchor="ctr"/>
          <a:lstStyle/>
          <a:p>
            <a:pPr marL="0" indent="0" algn="ctr">
              <a:buNone/>
            </a:pPr>
            <a:r>
              <a:rPr lang="en-US" sz="1200" b="1" dirty="0">
                <a:solidFill>
                  <a:srgbClr val="CBD9EE"/>
                </a:solidFill>
                <a:latin typeface="Calibri" pitchFamily="34" charset="0"/>
                <a:ea typeface="Calibri" pitchFamily="34" charset="-122"/>
                <a:cs typeface="Calibri" pitchFamily="34" charset="-120"/>
              </a:rPr>
              <a:t>Foundation</a:t>
            </a:r>
            <a:endParaRPr lang="en-US" sz="1200" dirty="0"/>
          </a:p>
        </p:txBody>
      </p:sp>
      <p:sp>
        <p:nvSpPr>
          <p:cNvPr id="9" name="Shape 6"/>
          <p:cNvSpPr/>
          <p:nvPr/>
        </p:nvSpPr>
        <p:spPr>
          <a:xfrm>
            <a:off x="4023360" y="685800"/>
            <a:ext cx="7589520" cy="905256"/>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0" name="Text 7"/>
          <p:cNvSpPr/>
          <p:nvPr/>
        </p:nvSpPr>
        <p:spPr>
          <a:xfrm>
            <a:off x="4251960" y="777240"/>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Build the initial case note</a:t>
            </a:r>
            <a:endParaRPr lang="en-US" sz="1400" dirty="0"/>
          </a:p>
        </p:txBody>
      </p:sp>
      <p:sp>
        <p:nvSpPr>
          <p:cNvPr id="11" name="Text 8"/>
          <p:cNvSpPr/>
          <p:nvPr/>
        </p:nvSpPr>
        <p:spPr>
          <a:xfrm>
            <a:off x="4251960" y="1069848"/>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Start a running record as soon as the email artifact is received — this becomes the backbone of the investigation and the write-up.</a:t>
            </a:r>
            <a:endParaRPr lang="en-US" sz="1200" dirty="0"/>
          </a:p>
        </p:txBody>
      </p:sp>
      <p:sp>
        <p:nvSpPr>
          <p:cNvPr id="12" name="Shape 9"/>
          <p:cNvSpPr/>
          <p:nvPr/>
        </p:nvSpPr>
        <p:spPr>
          <a:xfrm>
            <a:off x="4023360" y="1664208"/>
            <a:ext cx="7589520" cy="905256"/>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3" name="Text 10"/>
          <p:cNvSpPr/>
          <p:nvPr/>
        </p:nvSpPr>
        <p:spPr>
          <a:xfrm>
            <a:off x="4251960" y="1755648"/>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Separate direct evidence from user claims</a:t>
            </a:r>
            <a:endParaRPr lang="en-US" sz="1400" dirty="0"/>
          </a:p>
        </p:txBody>
      </p:sp>
      <p:sp>
        <p:nvSpPr>
          <p:cNvPr id="14" name="Text 11"/>
          <p:cNvSpPr/>
          <p:nvPr/>
        </p:nvSpPr>
        <p:spPr>
          <a:xfrm>
            <a:off x="4251960" y="2048256"/>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The alert is a lead, not proof. Email headers, the embedded link, and authentication results are evidence; what the message claims (a $625,000 purchase) is the lure.</a:t>
            </a:r>
            <a:endParaRPr lang="en-US" sz="1200" dirty="0"/>
          </a:p>
        </p:txBody>
      </p:sp>
      <p:sp>
        <p:nvSpPr>
          <p:cNvPr id="15" name="Shape 12"/>
          <p:cNvSpPr/>
          <p:nvPr/>
        </p:nvSpPr>
        <p:spPr>
          <a:xfrm>
            <a:off x="4023360" y="2642615"/>
            <a:ext cx="7589520" cy="905257"/>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6" name="Text 13"/>
          <p:cNvSpPr/>
          <p:nvPr/>
        </p:nvSpPr>
        <p:spPr>
          <a:xfrm>
            <a:off x="4251960" y="2734056"/>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Record the essentials</a:t>
            </a:r>
            <a:endParaRPr lang="en-US" sz="1400" dirty="0"/>
          </a:p>
        </p:txBody>
      </p:sp>
      <p:sp>
        <p:nvSpPr>
          <p:cNvPr id="17" name="Text 14"/>
          <p:cNvSpPr/>
          <p:nvPr/>
        </p:nvSpPr>
        <p:spPr>
          <a:xfrm>
            <a:off x="4251960" y="3026664"/>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First known time, targeted recipients, sending infrastructure, and the payload link — without these four facts, the incident cannot be scoped correctly.</a:t>
            </a:r>
            <a:endParaRPr lang="en-US" sz="1200" dirty="0"/>
          </a:p>
        </p:txBody>
      </p:sp>
      <p:sp>
        <p:nvSpPr>
          <p:cNvPr id="19" name="Text 16"/>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9AA7BB"/>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5529"/>
            <a:ext cx="3657600" cy="6858000"/>
          </a:xfrm>
          <a:prstGeom prst="roundRect">
            <a:avLst/>
          </a:prstGeom>
          <a:solidFill>
            <a:srgbClr val="0B1626"/>
          </a:solidFill>
          <a:ln/>
        </p:spPr>
        <p:txBody>
          <a:bodyPr/>
          <a:lstStyle/>
          <a:p>
            <a:endParaRPr lang="en-US"/>
          </a:p>
        </p:txBody>
      </p:sp>
      <p:sp>
        <p:nvSpPr>
          <p:cNvPr id="3" name="Shape 1"/>
          <p:cNvSpPr/>
          <p:nvPr/>
        </p:nvSpPr>
        <p:spPr>
          <a:xfrm>
            <a:off x="640080" y="731520"/>
            <a:ext cx="1005840" cy="1005840"/>
          </a:xfrm>
          <a:prstGeom prst="ellipse">
            <a:avLst/>
          </a:prstGeom>
          <a:solidFill>
            <a:srgbClr val="16233B"/>
          </a:solidFill>
          <a:ln/>
        </p:spPr>
        <p:txBody>
          <a:bodyPr/>
          <a:lstStyle/>
          <a:p>
            <a:endParaRPr lang="en-US"/>
          </a:p>
        </p:txBody>
      </p:sp>
      <p:pic>
        <p:nvPicPr>
          <p:cNvPr id="4" name="Image 0" descr="icon_clock.png"/>
          <p:cNvPicPr>
            <a:picLocks noChangeAspect="1"/>
          </p:cNvPicPr>
          <p:nvPr/>
        </p:nvPicPr>
        <p:blipFill>
          <a:blip r:embed="rId3"/>
          <a:stretch>
            <a:fillRect/>
          </a:stretch>
        </p:blipFill>
        <p:spPr>
          <a:xfrm>
            <a:off x="891540" y="982980"/>
            <a:ext cx="502920" cy="502920"/>
          </a:xfrm>
          <a:prstGeom prst="rect">
            <a:avLst/>
          </a:prstGeom>
        </p:spPr>
      </p:pic>
      <p:sp>
        <p:nvSpPr>
          <p:cNvPr id="5" name="Text 2"/>
          <p:cNvSpPr/>
          <p:nvPr/>
        </p:nvSpPr>
        <p:spPr>
          <a:xfrm>
            <a:off x="640080" y="1920240"/>
            <a:ext cx="2743200" cy="365760"/>
          </a:xfrm>
          <a:prstGeom prst="rect">
            <a:avLst/>
          </a:prstGeom>
          <a:noFill/>
          <a:ln/>
        </p:spPr>
        <p:txBody>
          <a:bodyPr wrap="square" rtlCol="0" anchor="ctr"/>
          <a:lstStyle/>
          <a:p>
            <a:r>
              <a:rPr lang="en-US" sz="1400" b="1" kern="0" spc="150" dirty="0">
                <a:solidFill>
                  <a:srgbClr val="F2A93B"/>
                </a:solidFill>
                <a:latin typeface="Calibri" pitchFamily="34" charset="0"/>
                <a:ea typeface="Calibri" pitchFamily="34" charset="-122"/>
                <a:cs typeface="Calibri" pitchFamily="34" charset="-120"/>
              </a:rPr>
              <a:t>2 - 30 Min</a:t>
            </a:r>
            <a:endParaRPr lang="en-US" sz="1400" dirty="0"/>
          </a:p>
        </p:txBody>
      </p:sp>
      <p:sp>
        <p:nvSpPr>
          <p:cNvPr id="6" name="Text 3"/>
          <p:cNvSpPr/>
          <p:nvPr/>
        </p:nvSpPr>
        <p:spPr>
          <a:xfrm>
            <a:off x="640080" y="2286000"/>
            <a:ext cx="2834640" cy="1554480"/>
          </a:xfrm>
          <a:prstGeom prst="rect">
            <a:avLst/>
          </a:prstGeom>
          <a:noFill/>
          <a:ln/>
        </p:spPr>
        <p:txBody>
          <a:bodyPr wrap="square"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Event Classification &amp;</a:t>
            </a:r>
            <a:endParaRPr lang="en-US" sz="2400" dirty="0"/>
          </a:p>
          <a:p>
            <a:pPr marL="0" indent="0">
              <a:buNone/>
            </a:pPr>
            <a:r>
              <a:rPr lang="en-US" sz="2400" b="1" dirty="0">
                <a:solidFill>
                  <a:srgbClr val="FFFFFF"/>
                </a:solidFill>
                <a:latin typeface="Cambria" pitchFamily="34" charset="0"/>
                <a:ea typeface="Cambria" pitchFamily="34" charset="-122"/>
                <a:cs typeface="Cambria" pitchFamily="34" charset="-120"/>
              </a:rPr>
              <a:t>Timeline Building</a:t>
            </a:r>
            <a:endParaRPr lang="en-US" sz="2400" dirty="0"/>
          </a:p>
        </p:txBody>
      </p:sp>
      <p:sp>
        <p:nvSpPr>
          <p:cNvPr id="7" name="Shape 4"/>
          <p:cNvSpPr/>
          <p:nvPr/>
        </p:nvSpPr>
        <p:spPr>
          <a:xfrm>
            <a:off x="640080" y="5120640"/>
            <a:ext cx="2377440" cy="502920"/>
          </a:xfrm>
          <a:prstGeom prst="roundRect">
            <a:avLst>
              <a:gd name="adj" fmla="val 50909"/>
            </a:avLst>
          </a:prstGeom>
          <a:solidFill>
            <a:srgbClr val="1E2C49"/>
          </a:solidFill>
          <a:ln/>
        </p:spPr>
        <p:txBody>
          <a:bodyPr/>
          <a:lstStyle/>
          <a:p>
            <a:endParaRPr lang="en-US"/>
          </a:p>
        </p:txBody>
      </p:sp>
      <p:sp>
        <p:nvSpPr>
          <p:cNvPr id="8" name="Text 5"/>
          <p:cNvSpPr/>
          <p:nvPr/>
        </p:nvSpPr>
        <p:spPr>
          <a:xfrm>
            <a:off x="640080" y="5120640"/>
            <a:ext cx="2377440" cy="502920"/>
          </a:xfrm>
          <a:prstGeom prst="rect">
            <a:avLst/>
          </a:prstGeom>
          <a:noFill/>
          <a:ln/>
        </p:spPr>
        <p:txBody>
          <a:bodyPr wrap="square" rtlCol="0" anchor="ctr"/>
          <a:lstStyle/>
          <a:p>
            <a:pPr marL="0" indent="0" algn="ctr">
              <a:buNone/>
            </a:pPr>
            <a:r>
              <a:rPr lang="en-US" sz="1200" b="1" dirty="0">
                <a:solidFill>
                  <a:srgbClr val="CBD9EE"/>
                </a:solidFill>
                <a:latin typeface="Calibri" pitchFamily="34" charset="0"/>
                <a:ea typeface="Calibri" pitchFamily="34" charset="-122"/>
                <a:cs typeface="Calibri" pitchFamily="34" charset="-120"/>
              </a:rPr>
              <a:t>Decision Point</a:t>
            </a:r>
            <a:endParaRPr lang="en-US" sz="1200" dirty="0"/>
          </a:p>
        </p:txBody>
      </p:sp>
      <p:sp>
        <p:nvSpPr>
          <p:cNvPr id="9" name="Shape 6"/>
          <p:cNvSpPr/>
          <p:nvPr/>
        </p:nvSpPr>
        <p:spPr>
          <a:xfrm>
            <a:off x="4023360" y="685800"/>
            <a:ext cx="7589520" cy="905256"/>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0" name="Text 7"/>
          <p:cNvSpPr/>
          <p:nvPr/>
        </p:nvSpPr>
        <p:spPr>
          <a:xfrm>
            <a:off x="4251960" y="777240"/>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Classify the activity</a:t>
            </a:r>
            <a:endParaRPr lang="en-US" sz="1400" dirty="0"/>
          </a:p>
        </p:txBody>
      </p:sp>
      <p:sp>
        <p:nvSpPr>
          <p:cNvPr id="11" name="Text 8"/>
          <p:cNvSpPr/>
          <p:nvPr/>
        </p:nvSpPr>
        <p:spPr>
          <a:xfrm>
            <a:off x="4251960" y="1069848"/>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Normal event, suspicious event, or confirmed incident? This single call shapes everything downstream — urgency, resourcing, and communication.</a:t>
            </a:r>
            <a:endParaRPr lang="en-US" sz="1200" dirty="0"/>
          </a:p>
        </p:txBody>
      </p:sp>
      <p:sp>
        <p:nvSpPr>
          <p:cNvPr id="12" name="Shape 9"/>
          <p:cNvSpPr/>
          <p:nvPr/>
        </p:nvSpPr>
        <p:spPr>
          <a:xfrm>
            <a:off x="4023360" y="1664208"/>
            <a:ext cx="7589520" cy="905256"/>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3" name="Text 10"/>
          <p:cNvSpPr/>
          <p:nvPr/>
        </p:nvSpPr>
        <p:spPr>
          <a:xfrm>
            <a:off x="4251960" y="1755648"/>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Build a short timeline</a:t>
            </a:r>
            <a:endParaRPr lang="en-US" sz="1400" dirty="0"/>
          </a:p>
        </p:txBody>
      </p:sp>
      <p:sp>
        <p:nvSpPr>
          <p:cNvPr id="14" name="Text 11"/>
          <p:cNvSpPr/>
          <p:nvPr/>
        </p:nvSpPr>
        <p:spPr>
          <a:xfrm>
            <a:off x="4251960" y="2048256"/>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Sequence the email delivery, link click, payload download, execution, and any C2 or credential activity into a single, ordered narrative.</a:t>
            </a:r>
            <a:endParaRPr lang="en-US" sz="1200" dirty="0"/>
          </a:p>
        </p:txBody>
      </p:sp>
      <p:sp>
        <p:nvSpPr>
          <p:cNvPr id="15" name="Shape 12"/>
          <p:cNvSpPr/>
          <p:nvPr/>
        </p:nvSpPr>
        <p:spPr>
          <a:xfrm>
            <a:off x="4023360" y="2642616"/>
            <a:ext cx="7589520" cy="905256"/>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6" name="Text 13"/>
          <p:cNvSpPr/>
          <p:nvPr/>
        </p:nvSpPr>
        <p:spPr>
          <a:xfrm>
            <a:off x="4251960" y="2734056"/>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Test the incident hypothesis</a:t>
            </a:r>
            <a:endParaRPr lang="en-US" sz="1400" dirty="0"/>
          </a:p>
        </p:txBody>
      </p:sp>
      <p:sp>
        <p:nvSpPr>
          <p:cNvPr id="17" name="Text 14"/>
          <p:cNvSpPr/>
          <p:nvPr/>
        </p:nvSpPr>
        <p:spPr>
          <a:xfrm>
            <a:off x="4251960" y="3026664"/>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For each item on the timeline, ask: does this support phishing-led compromise, weaken it, or is it unrelated noise?</a:t>
            </a:r>
            <a:endParaRPr lang="en-US" sz="1200" dirty="0"/>
          </a:p>
        </p:txBody>
      </p:sp>
      <p:sp>
        <p:nvSpPr>
          <p:cNvPr id="19" name="Text 16"/>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9AA7BB"/>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oundRect">
            <a:avLst/>
          </a:prstGeom>
          <a:solidFill>
            <a:srgbClr val="0B1626"/>
          </a:solidFill>
          <a:ln/>
        </p:spPr>
        <p:txBody>
          <a:bodyPr/>
          <a:lstStyle/>
          <a:p>
            <a:endParaRPr lang="en-US"/>
          </a:p>
        </p:txBody>
      </p:sp>
      <p:sp>
        <p:nvSpPr>
          <p:cNvPr id="3" name="Shape 1"/>
          <p:cNvSpPr/>
          <p:nvPr/>
        </p:nvSpPr>
        <p:spPr>
          <a:xfrm>
            <a:off x="640080" y="731520"/>
            <a:ext cx="1005840" cy="1005840"/>
          </a:xfrm>
          <a:prstGeom prst="ellipse">
            <a:avLst/>
          </a:prstGeom>
          <a:solidFill>
            <a:srgbClr val="16233B"/>
          </a:solidFill>
          <a:ln/>
        </p:spPr>
        <p:txBody>
          <a:bodyPr/>
          <a:lstStyle/>
          <a:p>
            <a:endParaRPr lang="en-US"/>
          </a:p>
        </p:txBody>
      </p:sp>
      <p:pic>
        <p:nvPicPr>
          <p:cNvPr id="4" name="Image 0" descr="icon_search.png"/>
          <p:cNvPicPr>
            <a:picLocks noChangeAspect="1"/>
          </p:cNvPicPr>
          <p:nvPr/>
        </p:nvPicPr>
        <p:blipFill>
          <a:blip r:embed="rId3"/>
          <a:stretch>
            <a:fillRect/>
          </a:stretch>
        </p:blipFill>
        <p:spPr>
          <a:xfrm>
            <a:off x="891540" y="982980"/>
            <a:ext cx="502920" cy="502920"/>
          </a:xfrm>
          <a:prstGeom prst="rect">
            <a:avLst/>
          </a:prstGeom>
        </p:spPr>
      </p:pic>
      <p:sp>
        <p:nvSpPr>
          <p:cNvPr id="5" name="Text 2"/>
          <p:cNvSpPr/>
          <p:nvPr/>
        </p:nvSpPr>
        <p:spPr>
          <a:xfrm>
            <a:off x="640080" y="1920240"/>
            <a:ext cx="2743200" cy="365760"/>
          </a:xfrm>
          <a:prstGeom prst="rect">
            <a:avLst/>
          </a:prstGeom>
          <a:noFill/>
          <a:ln/>
        </p:spPr>
        <p:txBody>
          <a:bodyPr wrap="square" rtlCol="0" anchor="ctr"/>
          <a:lstStyle/>
          <a:p>
            <a:r>
              <a:rPr lang="en-US" sz="1400" b="1" kern="0" spc="150" dirty="0">
                <a:solidFill>
                  <a:srgbClr val="F2A93B"/>
                </a:solidFill>
                <a:latin typeface="Calibri" pitchFamily="34" charset="0"/>
                <a:ea typeface="Calibri" pitchFamily="34" charset="-122"/>
                <a:cs typeface="Calibri" pitchFamily="34" charset="-120"/>
              </a:rPr>
              <a:t>3 - 30 Min</a:t>
            </a:r>
            <a:endParaRPr lang="en-US" sz="1400" dirty="0"/>
          </a:p>
        </p:txBody>
      </p:sp>
      <p:sp>
        <p:nvSpPr>
          <p:cNvPr id="6" name="Text 3"/>
          <p:cNvSpPr/>
          <p:nvPr/>
        </p:nvSpPr>
        <p:spPr>
          <a:xfrm>
            <a:off x="640080" y="2286000"/>
            <a:ext cx="2834640" cy="1554480"/>
          </a:xfrm>
          <a:prstGeom prst="rect">
            <a:avLst/>
          </a:prstGeom>
          <a:noFill/>
          <a:ln/>
        </p:spPr>
        <p:txBody>
          <a:bodyPr wrap="square"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Intel Validation &amp;</a:t>
            </a:r>
            <a:endParaRPr lang="en-US" sz="2400" dirty="0"/>
          </a:p>
          <a:p>
            <a:pPr marL="0" indent="0">
              <a:buNone/>
            </a:pPr>
            <a:r>
              <a:rPr lang="en-US" sz="2400" b="1" dirty="0">
                <a:solidFill>
                  <a:srgbClr val="FFFFFF"/>
                </a:solidFill>
                <a:latin typeface="Cambria" pitchFamily="34" charset="0"/>
                <a:ea typeface="Cambria" pitchFamily="34" charset="-122"/>
                <a:cs typeface="Cambria" pitchFamily="34" charset="-120"/>
              </a:rPr>
              <a:t>Containment Scoping</a:t>
            </a:r>
            <a:endParaRPr lang="en-US" sz="2400" dirty="0"/>
          </a:p>
        </p:txBody>
      </p:sp>
      <p:sp>
        <p:nvSpPr>
          <p:cNvPr id="7" name="Shape 4"/>
          <p:cNvSpPr/>
          <p:nvPr/>
        </p:nvSpPr>
        <p:spPr>
          <a:xfrm>
            <a:off x="640080" y="5120640"/>
            <a:ext cx="2377440" cy="502920"/>
          </a:xfrm>
          <a:prstGeom prst="roundRect">
            <a:avLst>
              <a:gd name="adj" fmla="val 50909"/>
            </a:avLst>
          </a:prstGeom>
          <a:solidFill>
            <a:srgbClr val="1E2C49"/>
          </a:solidFill>
          <a:ln/>
        </p:spPr>
        <p:txBody>
          <a:bodyPr/>
          <a:lstStyle/>
          <a:p>
            <a:endParaRPr lang="en-US"/>
          </a:p>
        </p:txBody>
      </p:sp>
      <p:sp>
        <p:nvSpPr>
          <p:cNvPr id="8" name="Text 5"/>
          <p:cNvSpPr/>
          <p:nvPr/>
        </p:nvSpPr>
        <p:spPr>
          <a:xfrm>
            <a:off x="640080" y="5120640"/>
            <a:ext cx="2377440" cy="502920"/>
          </a:xfrm>
          <a:prstGeom prst="rect">
            <a:avLst/>
          </a:prstGeom>
          <a:noFill/>
          <a:ln/>
        </p:spPr>
        <p:txBody>
          <a:bodyPr wrap="square" rtlCol="0" anchor="ctr"/>
          <a:lstStyle/>
          <a:p>
            <a:pPr marL="0" indent="0" algn="ctr">
              <a:buNone/>
            </a:pPr>
            <a:r>
              <a:rPr lang="en-US" sz="1200" b="1" dirty="0">
                <a:solidFill>
                  <a:srgbClr val="CBD9EE"/>
                </a:solidFill>
                <a:latin typeface="Calibri" pitchFamily="34" charset="0"/>
                <a:ea typeface="Calibri" pitchFamily="34" charset="-122"/>
                <a:cs typeface="Calibri" pitchFamily="34" charset="-120"/>
              </a:rPr>
              <a:t>Core Skill</a:t>
            </a:r>
            <a:endParaRPr lang="en-US" sz="1200" dirty="0"/>
          </a:p>
        </p:txBody>
      </p:sp>
      <p:sp>
        <p:nvSpPr>
          <p:cNvPr id="9" name="Shape 6"/>
          <p:cNvSpPr/>
          <p:nvPr/>
        </p:nvSpPr>
        <p:spPr>
          <a:xfrm>
            <a:off x="4023360" y="685800"/>
            <a:ext cx="7589520" cy="905256"/>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0" name="Text 7"/>
          <p:cNvSpPr/>
          <p:nvPr/>
        </p:nvSpPr>
        <p:spPr>
          <a:xfrm>
            <a:off x="4251960" y="777240"/>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Compare indicators against intel</a:t>
            </a:r>
            <a:endParaRPr lang="en-US" sz="1400" dirty="0"/>
          </a:p>
        </p:txBody>
      </p:sp>
      <p:sp>
        <p:nvSpPr>
          <p:cNvPr id="11" name="Text 8"/>
          <p:cNvSpPr/>
          <p:nvPr/>
        </p:nvSpPr>
        <p:spPr>
          <a:xfrm>
            <a:off x="4251960" y="1069848"/>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Check the sender domain, originating IP, embedded URL, payload hash, and any C2 indicators against URLHaus, VirusTotal, MalwareBazaar, and VMRay.</a:t>
            </a:r>
            <a:endParaRPr lang="en-US" sz="1200" dirty="0"/>
          </a:p>
        </p:txBody>
      </p:sp>
      <p:sp>
        <p:nvSpPr>
          <p:cNvPr id="12" name="Shape 9"/>
          <p:cNvSpPr/>
          <p:nvPr/>
        </p:nvSpPr>
        <p:spPr>
          <a:xfrm>
            <a:off x="4023360" y="1664208"/>
            <a:ext cx="7589520" cy="905256"/>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3" name="Text 10"/>
          <p:cNvSpPr/>
          <p:nvPr/>
        </p:nvSpPr>
        <p:spPr>
          <a:xfrm>
            <a:off x="4251960" y="1755648"/>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Judge actionability, not just presence</a:t>
            </a:r>
            <a:endParaRPr lang="en-US" sz="1400" dirty="0"/>
          </a:p>
        </p:txBody>
      </p:sp>
      <p:sp>
        <p:nvSpPr>
          <p:cNvPr id="14" name="Text 11"/>
          <p:cNvSpPr/>
          <p:nvPr/>
        </p:nvSpPr>
        <p:spPr>
          <a:xfrm>
            <a:off x="4251960" y="2048256"/>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A match isn't automatically useful — weigh confidence level, age of the intel, and relevance to this specific environment.</a:t>
            </a:r>
            <a:endParaRPr lang="en-US" sz="1200" dirty="0"/>
          </a:p>
        </p:txBody>
      </p:sp>
      <p:sp>
        <p:nvSpPr>
          <p:cNvPr id="15" name="Shape 12"/>
          <p:cNvSpPr/>
          <p:nvPr/>
        </p:nvSpPr>
        <p:spPr>
          <a:xfrm>
            <a:off x="4023360" y="2642616"/>
            <a:ext cx="7589520" cy="905256"/>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6" name="Text 13"/>
          <p:cNvSpPr/>
          <p:nvPr/>
        </p:nvSpPr>
        <p:spPr>
          <a:xfrm>
            <a:off x="4251960" y="2734056"/>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Sort into two piles</a:t>
            </a:r>
            <a:endParaRPr lang="en-US" sz="1400" dirty="0"/>
          </a:p>
        </p:txBody>
      </p:sp>
      <p:sp>
        <p:nvSpPr>
          <p:cNvPr id="17" name="Text 14"/>
          <p:cNvSpPr/>
          <p:nvPr/>
        </p:nvSpPr>
        <p:spPr>
          <a:xfrm>
            <a:off x="4251960" y="3026664"/>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Actionable indicators worth blocking or hunting on, versus weak or low-confidence indicators that don't yet justify action.</a:t>
            </a:r>
            <a:endParaRPr lang="en-US" sz="1200" dirty="0"/>
          </a:p>
        </p:txBody>
      </p:sp>
      <p:sp>
        <p:nvSpPr>
          <p:cNvPr id="19" name="Text 16"/>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9AA7BB"/>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oundRect">
            <a:avLst/>
          </a:prstGeom>
          <a:solidFill>
            <a:srgbClr val="0B1626"/>
          </a:solidFill>
          <a:ln/>
        </p:spPr>
        <p:txBody>
          <a:bodyPr/>
          <a:lstStyle/>
          <a:p>
            <a:endParaRPr lang="en-US"/>
          </a:p>
        </p:txBody>
      </p:sp>
      <p:sp>
        <p:nvSpPr>
          <p:cNvPr id="3" name="Shape 1"/>
          <p:cNvSpPr/>
          <p:nvPr/>
        </p:nvSpPr>
        <p:spPr>
          <a:xfrm>
            <a:off x="640080" y="731520"/>
            <a:ext cx="1005840" cy="1005840"/>
          </a:xfrm>
          <a:prstGeom prst="ellipse">
            <a:avLst/>
          </a:prstGeom>
          <a:solidFill>
            <a:srgbClr val="16233B"/>
          </a:solidFill>
          <a:ln/>
        </p:spPr>
        <p:txBody>
          <a:bodyPr/>
          <a:lstStyle/>
          <a:p>
            <a:endParaRPr lang="en-US"/>
          </a:p>
        </p:txBody>
      </p:sp>
      <p:pic>
        <p:nvPicPr>
          <p:cNvPr id="4" name="Image 0" descr="icon_bullhorn.png"/>
          <p:cNvPicPr>
            <a:picLocks noChangeAspect="1"/>
          </p:cNvPicPr>
          <p:nvPr/>
        </p:nvPicPr>
        <p:blipFill>
          <a:blip r:embed="rId3"/>
          <a:stretch>
            <a:fillRect/>
          </a:stretch>
        </p:blipFill>
        <p:spPr>
          <a:xfrm>
            <a:off x="891540" y="982980"/>
            <a:ext cx="502920" cy="502920"/>
          </a:xfrm>
          <a:prstGeom prst="rect">
            <a:avLst/>
          </a:prstGeom>
        </p:spPr>
      </p:pic>
      <p:sp>
        <p:nvSpPr>
          <p:cNvPr id="5" name="Text 2"/>
          <p:cNvSpPr/>
          <p:nvPr/>
        </p:nvSpPr>
        <p:spPr>
          <a:xfrm>
            <a:off x="640080" y="1920240"/>
            <a:ext cx="2743200" cy="365760"/>
          </a:xfrm>
          <a:prstGeom prst="rect">
            <a:avLst/>
          </a:prstGeom>
          <a:noFill/>
          <a:ln/>
        </p:spPr>
        <p:txBody>
          <a:bodyPr wrap="square" rtlCol="0" anchor="ctr"/>
          <a:lstStyle/>
          <a:p>
            <a:r>
              <a:rPr lang="en-US" sz="1400" b="1" kern="0" spc="150" dirty="0">
                <a:solidFill>
                  <a:srgbClr val="F2A93B"/>
                </a:solidFill>
                <a:latin typeface="Calibri" pitchFamily="34" charset="0"/>
                <a:ea typeface="Calibri" pitchFamily="34" charset="-122"/>
                <a:cs typeface="Calibri" pitchFamily="34" charset="-120"/>
              </a:rPr>
              <a:t>4 - 30 Min</a:t>
            </a:r>
            <a:endParaRPr lang="en-US" sz="1400" dirty="0"/>
          </a:p>
        </p:txBody>
      </p:sp>
      <p:sp>
        <p:nvSpPr>
          <p:cNvPr id="6" name="Text 3"/>
          <p:cNvSpPr/>
          <p:nvPr/>
        </p:nvSpPr>
        <p:spPr>
          <a:xfrm>
            <a:off x="640080" y="2286000"/>
            <a:ext cx="2834640" cy="1554480"/>
          </a:xfrm>
          <a:prstGeom prst="rect">
            <a:avLst/>
          </a:prstGeom>
          <a:noFill/>
          <a:ln/>
        </p:spPr>
        <p:txBody>
          <a:bodyPr wrap="square"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First Response</a:t>
            </a:r>
            <a:endParaRPr lang="en-US" sz="2400" dirty="0"/>
          </a:p>
          <a:p>
            <a:pPr marL="0" indent="0">
              <a:buNone/>
            </a:pPr>
            <a:r>
              <a:rPr lang="en-US" sz="2400" b="1" dirty="0">
                <a:solidFill>
                  <a:srgbClr val="FFFFFF"/>
                </a:solidFill>
                <a:latin typeface="Cambria" pitchFamily="34" charset="0"/>
                <a:ea typeface="Cambria" pitchFamily="34" charset="-122"/>
                <a:cs typeface="Cambria" pitchFamily="34" charset="-120"/>
              </a:rPr>
              <a:t>Decision &amp; Briefing</a:t>
            </a:r>
            <a:endParaRPr lang="en-US" sz="2400" dirty="0"/>
          </a:p>
        </p:txBody>
      </p:sp>
      <p:sp>
        <p:nvSpPr>
          <p:cNvPr id="7" name="Shape 4"/>
          <p:cNvSpPr/>
          <p:nvPr/>
        </p:nvSpPr>
        <p:spPr>
          <a:xfrm>
            <a:off x="640080" y="5120640"/>
            <a:ext cx="2377440" cy="502920"/>
          </a:xfrm>
          <a:prstGeom prst="roundRect">
            <a:avLst>
              <a:gd name="adj" fmla="val 50909"/>
            </a:avLst>
          </a:prstGeom>
          <a:solidFill>
            <a:srgbClr val="1E2C49"/>
          </a:solidFill>
          <a:ln/>
        </p:spPr>
        <p:txBody>
          <a:bodyPr/>
          <a:lstStyle/>
          <a:p>
            <a:endParaRPr lang="en-US"/>
          </a:p>
        </p:txBody>
      </p:sp>
      <p:sp>
        <p:nvSpPr>
          <p:cNvPr id="8" name="Text 5"/>
          <p:cNvSpPr/>
          <p:nvPr/>
        </p:nvSpPr>
        <p:spPr>
          <a:xfrm>
            <a:off x="640080" y="5120640"/>
            <a:ext cx="2377440" cy="502920"/>
          </a:xfrm>
          <a:prstGeom prst="rect">
            <a:avLst/>
          </a:prstGeom>
          <a:noFill/>
          <a:ln/>
        </p:spPr>
        <p:txBody>
          <a:bodyPr wrap="square" rtlCol="0" anchor="ctr"/>
          <a:lstStyle/>
          <a:p>
            <a:pPr marL="0" indent="0" algn="ctr">
              <a:buNone/>
            </a:pPr>
            <a:r>
              <a:rPr lang="en-US" sz="1200" b="1" dirty="0">
                <a:solidFill>
                  <a:srgbClr val="CBD9EE"/>
                </a:solidFill>
                <a:latin typeface="Calibri" pitchFamily="34" charset="0"/>
                <a:ea typeface="Calibri" pitchFamily="34" charset="-122"/>
                <a:cs typeface="Calibri" pitchFamily="34" charset="-120"/>
              </a:rPr>
              <a:t>Deliverable</a:t>
            </a:r>
            <a:endParaRPr lang="en-US" sz="1200" dirty="0"/>
          </a:p>
        </p:txBody>
      </p:sp>
      <p:sp>
        <p:nvSpPr>
          <p:cNvPr id="9" name="Shape 6"/>
          <p:cNvSpPr/>
          <p:nvPr/>
        </p:nvSpPr>
        <p:spPr>
          <a:xfrm>
            <a:off x="4023360" y="685800"/>
            <a:ext cx="7589520" cy="905256"/>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0" name="Text 7"/>
          <p:cNvSpPr/>
          <p:nvPr/>
        </p:nvSpPr>
        <p:spPr>
          <a:xfrm>
            <a:off x="4251960" y="777240"/>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Recommend concrete first actions</a:t>
            </a:r>
            <a:endParaRPr lang="en-US" sz="1400" dirty="0"/>
          </a:p>
        </p:txBody>
      </p:sp>
      <p:sp>
        <p:nvSpPr>
          <p:cNvPr id="11" name="Text 8"/>
          <p:cNvSpPr/>
          <p:nvPr/>
        </p:nvSpPr>
        <p:spPr>
          <a:xfrm>
            <a:off x="4251960" y="1069848"/>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Isolate affected hosts, reset credentials, block the malicious URL/IP and payload hash, purge the email from all mailboxes, or escalate to Level 2 — pick what the evidence supports.</a:t>
            </a:r>
            <a:endParaRPr lang="en-US" sz="1200" dirty="0"/>
          </a:p>
        </p:txBody>
      </p:sp>
      <p:sp>
        <p:nvSpPr>
          <p:cNvPr id="12" name="Shape 9"/>
          <p:cNvSpPr/>
          <p:nvPr/>
        </p:nvSpPr>
        <p:spPr>
          <a:xfrm>
            <a:off x="4023360" y="1664208"/>
            <a:ext cx="7589520" cy="777240"/>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3" name="Text 10"/>
          <p:cNvSpPr/>
          <p:nvPr/>
        </p:nvSpPr>
        <p:spPr>
          <a:xfrm>
            <a:off x="4251960" y="1755648"/>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Write a responder update</a:t>
            </a:r>
            <a:endParaRPr lang="en-US" sz="1400" dirty="0"/>
          </a:p>
        </p:txBody>
      </p:sp>
      <p:sp>
        <p:nvSpPr>
          <p:cNvPr id="14" name="Text 11"/>
          <p:cNvSpPr/>
          <p:nvPr/>
        </p:nvSpPr>
        <p:spPr>
          <a:xfrm>
            <a:off x="4251960" y="2048256"/>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Short, factual, and structured for an IR lead who has 60 seconds to read it and decide what happens next.</a:t>
            </a:r>
            <a:endParaRPr lang="en-US" sz="1200" dirty="0"/>
          </a:p>
        </p:txBody>
      </p:sp>
      <p:sp>
        <p:nvSpPr>
          <p:cNvPr id="15" name="Shape 12"/>
          <p:cNvSpPr/>
          <p:nvPr/>
        </p:nvSpPr>
        <p:spPr>
          <a:xfrm>
            <a:off x="4023360" y="2536286"/>
            <a:ext cx="7589520" cy="908658"/>
          </a:xfrm>
          <a:prstGeom prst="roundRect">
            <a:avLst>
              <a:gd name="adj" fmla="val 9412"/>
            </a:avLst>
          </a:prstGeom>
          <a:solidFill>
            <a:srgbClr val="FFFFFF"/>
          </a:solidFill>
          <a:ln w="12700">
            <a:solidFill>
              <a:srgbClr val="E2E7F0"/>
            </a:solidFill>
            <a:prstDash val="solid"/>
          </a:ln>
        </p:spPr>
        <p:txBody>
          <a:bodyPr/>
          <a:lstStyle/>
          <a:p>
            <a:endParaRPr lang="en-US"/>
          </a:p>
        </p:txBody>
      </p:sp>
      <p:sp>
        <p:nvSpPr>
          <p:cNvPr id="16" name="Text 13"/>
          <p:cNvSpPr/>
          <p:nvPr/>
        </p:nvSpPr>
        <p:spPr>
          <a:xfrm>
            <a:off x="4251960" y="2627726"/>
            <a:ext cx="7132320" cy="292608"/>
          </a:xfrm>
          <a:prstGeom prst="rect">
            <a:avLst/>
          </a:prstGeom>
          <a:noFill/>
          <a:ln/>
        </p:spPr>
        <p:txBody>
          <a:bodyPr wrap="square" rtlCol="0" anchor="ctr"/>
          <a:lstStyle/>
          <a:p>
            <a:pPr marL="0" indent="0">
              <a:buNone/>
            </a:pPr>
            <a:r>
              <a:rPr lang="en-US" sz="1400" b="1" dirty="0">
                <a:solidFill>
                  <a:srgbClr val="0B1626"/>
                </a:solidFill>
                <a:latin typeface="Calibri" pitchFamily="34" charset="0"/>
                <a:ea typeface="Calibri" pitchFamily="34" charset="-122"/>
                <a:cs typeface="Calibri" pitchFamily="34" charset="-120"/>
              </a:rPr>
              <a:t>Stay within confidence</a:t>
            </a:r>
            <a:endParaRPr lang="en-US" sz="1400" dirty="0"/>
          </a:p>
        </p:txBody>
      </p:sp>
      <p:sp>
        <p:nvSpPr>
          <p:cNvPr id="17" name="Text 14"/>
          <p:cNvSpPr/>
          <p:nvPr/>
        </p:nvSpPr>
        <p:spPr>
          <a:xfrm>
            <a:off x="4251960" y="2920334"/>
            <a:ext cx="7132320" cy="320040"/>
          </a:xfrm>
          <a:prstGeom prst="rect">
            <a:avLst/>
          </a:prstGeom>
          <a:noFill/>
          <a:ln/>
        </p:spPr>
        <p:txBody>
          <a:bodyPr wrap="square" rtlCol="0" anchor="t"/>
          <a:lstStyle/>
          <a:p>
            <a:pPr marL="0" indent="0">
              <a:buNone/>
            </a:pPr>
            <a:r>
              <a:rPr lang="en-US" sz="1200" dirty="0">
                <a:solidFill>
                  <a:srgbClr val="44536B"/>
                </a:solidFill>
                <a:latin typeface="Calibri" pitchFamily="34" charset="0"/>
                <a:ea typeface="Calibri" pitchFamily="34" charset="-122"/>
                <a:cs typeface="Calibri" pitchFamily="34" charset="-120"/>
              </a:rPr>
              <a:t>State clearly what is confirmed versus suspected — don't declare full compromise before the evidence supports it.</a:t>
            </a:r>
            <a:endParaRPr lang="en-US" sz="1200" dirty="0"/>
          </a:p>
        </p:txBody>
      </p:sp>
      <p:sp>
        <p:nvSpPr>
          <p:cNvPr id="19" name="Text 16"/>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9AA7BB"/>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B1626"/>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Deliverables By End Of Lab</a:t>
            </a:r>
            <a:endParaRPr lang="en-US" sz="3000" dirty="0"/>
          </a:p>
        </p:txBody>
      </p:sp>
      <p:sp>
        <p:nvSpPr>
          <p:cNvPr id="3" name="Shape 1"/>
          <p:cNvSpPr/>
          <p:nvPr/>
        </p:nvSpPr>
        <p:spPr>
          <a:xfrm>
            <a:off x="548640" y="1417320"/>
            <a:ext cx="5349240" cy="603504"/>
          </a:xfrm>
          <a:prstGeom prst="roundRect">
            <a:avLst>
              <a:gd name="adj" fmla="val 12121"/>
            </a:avLst>
          </a:prstGeom>
          <a:solidFill>
            <a:srgbClr val="16233B"/>
          </a:solidFill>
          <a:ln/>
        </p:spPr>
        <p:txBody>
          <a:bodyPr/>
          <a:lstStyle/>
          <a:p>
            <a:endParaRPr lang="en-US"/>
          </a:p>
        </p:txBody>
      </p:sp>
      <p:sp>
        <p:nvSpPr>
          <p:cNvPr id="4" name="Shape 2"/>
          <p:cNvSpPr/>
          <p:nvPr/>
        </p:nvSpPr>
        <p:spPr>
          <a:xfrm>
            <a:off x="694944" y="1618488"/>
            <a:ext cx="201168" cy="201168"/>
          </a:xfrm>
          <a:prstGeom prst="ellipse">
            <a:avLst/>
          </a:prstGeom>
          <a:solidFill>
            <a:srgbClr val="F2A93B"/>
          </a:solidFill>
          <a:ln/>
        </p:spPr>
        <p:txBody>
          <a:bodyPr/>
          <a:lstStyle/>
          <a:p>
            <a:endParaRPr lang="en-US"/>
          </a:p>
        </p:txBody>
      </p:sp>
      <p:sp>
        <p:nvSpPr>
          <p:cNvPr id="5" name="Text 3"/>
          <p:cNvSpPr/>
          <p:nvPr/>
        </p:nvSpPr>
        <p:spPr>
          <a:xfrm>
            <a:off x="1051560" y="1417320"/>
            <a:ext cx="4709160" cy="60350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Initial incident classification</a:t>
            </a:r>
            <a:endParaRPr lang="en-US" sz="1300" dirty="0"/>
          </a:p>
        </p:txBody>
      </p:sp>
      <p:sp>
        <p:nvSpPr>
          <p:cNvPr id="6" name="Shape 4"/>
          <p:cNvSpPr/>
          <p:nvPr/>
        </p:nvSpPr>
        <p:spPr>
          <a:xfrm>
            <a:off x="6263640" y="1417320"/>
            <a:ext cx="5349240" cy="603504"/>
          </a:xfrm>
          <a:prstGeom prst="roundRect">
            <a:avLst>
              <a:gd name="adj" fmla="val 12121"/>
            </a:avLst>
          </a:prstGeom>
          <a:solidFill>
            <a:srgbClr val="16233B"/>
          </a:solidFill>
          <a:ln/>
        </p:spPr>
        <p:txBody>
          <a:bodyPr/>
          <a:lstStyle/>
          <a:p>
            <a:endParaRPr lang="en-US"/>
          </a:p>
        </p:txBody>
      </p:sp>
      <p:sp>
        <p:nvSpPr>
          <p:cNvPr id="7" name="Shape 5"/>
          <p:cNvSpPr/>
          <p:nvPr/>
        </p:nvSpPr>
        <p:spPr>
          <a:xfrm>
            <a:off x="6409944" y="1618488"/>
            <a:ext cx="201168" cy="201168"/>
          </a:xfrm>
          <a:prstGeom prst="ellipse">
            <a:avLst/>
          </a:prstGeom>
          <a:solidFill>
            <a:srgbClr val="F2A93B"/>
          </a:solidFill>
          <a:ln/>
        </p:spPr>
        <p:txBody>
          <a:bodyPr/>
          <a:lstStyle/>
          <a:p>
            <a:endParaRPr lang="en-US"/>
          </a:p>
        </p:txBody>
      </p:sp>
      <p:sp>
        <p:nvSpPr>
          <p:cNvPr id="8" name="Text 6"/>
          <p:cNvSpPr/>
          <p:nvPr/>
        </p:nvSpPr>
        <p:spPr>
          <a:xfrm>
            <a:off x="6766560" y="1417320"/>
            <a:ext cx="4709160" cy="60350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Severity rating with justification</a:t>
            </a:r>
            <a:endParaRPr lang="en-US" sz="1300" dirty="0"/>
          </a:p>
        </p:txBody>
      </p:sp>
      <p:sp>
        <p:nvSpPr>
          <p:cNvPr id="9" name="Shape 7"/>
          <p:cNvSpPr/>
          <p:nvPr/>
        </p:nvSpPr>
        <p:spPr>
          <a:xfrm>
            <a:off x="548640" y="2148840"/>
            <a:ext cx="5349240" cy="603504"/>
          </a:xfrm>
          <a:prstGeom prst="roundRect">
            <a:avLst>
              <a:gd name="adj" fmla="val 12121"/>
            </a:avLst>
          </a:prstGeom>
          <a:solidFill>
            <a:srgbClr val="16233B"/>
          </a:solidFill>
          <a:ln/>
        </p:spPr>
        <p:txBody>
          <a:bodyPr/>
          <a:lstStyle/>
          <a:p>
            <a:endParaRPr lang="en-US"/>
          </a:p>
        </p:txBody>
      </p:sp>
      <p:sp>
        <p:nvSpPr>
          <p:cNvPr id="10" name="Shape 8"/>
          <p:cNvSpPr/>
          <p:nvPr/>
        </p:nvSpPr>
        <p:spPr>
          <a:xfrm>
            <a:off x="694944" y="2350008"/>
            <a:ext cx="201168" cy="201168"/>
          </a:xfrm>
          <a:prstGeom prst="ellipse">
            <a:avLst/>
          </a:prstGeom>
          <a:solidFill>
            <a:srgbClr val="F2A93B"/>
          </a:solidFill>
          <a:ln/>
        </p:spPr>
        <p:txBody>
          <a:bodyPr/>
          <a:lstStyle/>
          <a:p>
            <a:endParaRPr lang="en-US"/>
          </a:p>
        </p:txBody>
      </p:sp>
      <p:sp>
        <p:nvSpPr>
          <p:cNvPr id="11" name="Text 9"/>
          <p:cNvSpPr/>
          <p:nvPr/>
        </p:nvSpPr>
        <p:spPr>
          <a:xfrm>
            <a:off x="1051560" y="2148840"/>
            <a:ext cx="4709160" cy="60350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Timeline activity</a:t>
            </a:r>
            <a:endParaRPr lang="en-US" sz="1300" dirty="0"/>
          </a:p>
        </p:txBody>
      </p:sp>
      <p:sp>
        <p:nvSpPr>
          <p:cNvPr id="12" name="Shape 10"/>
          <p:cNvSpPr/>
          <p:nvPr/>
        </p:nvSpPr>
        <p:spPr>
          <a:xfrm>
            <a:off x="6263640" y="2148840"/>
            <a:ext cx="5349240" cy="603504"/>
          </a:xfrm>
          <a:prstGeom prst="roundRect">
            <a:avLst>
              <a:gd name="adj" fmla="val 12121"/>
            </a:avLst>
          </a:prstGeom>
          <a:solidFill>
            <a:srgbClr val="16233B"/>
          </a:solidFill>
          <a:ln/>
        </p:spPr>
        <p:txBody>
          <a:bodyPr/>
          <a:lstStyle/>
          <a:p>
            <a:endParaRPr lang="en-US"/>
          </a:p>
        </p:txBody>
      </p:sp>
      <p:sp>
        <p:nvSpPr>
          <p:cNvPr id="13" name="Shape 11"/>
          <p:cNvSpPr/>
          <p:nvPr/>
        </p:nvSpPr>
        <p:spPr>
          <a:xfrm>
            <a:off x="6409944" y="2350008"/>
            <a:ext cx="201168" cy="201168"/>
          </a:xfrm>
          <a:prstGeom prst="ellipse">
            <a:avLst/>
          </a:prstGeom>
          <a:solidFill>
            <a:srgbClr val="F2A93B"/>
          </a:solidFill>
          <a:ln/>
        </p:spPr>
        <p:txBody>
          <a:bodyPr/>
          <a:lstStyle/>
          <a:p>
            <a:endParaRPr lang="en-US"/>
          </a:p>
        </p:txBody>
      </p:sp>
      <p:sp>
        <p:nvSpPr>
          <p:cNvPr id="14" name="Text 12"/>
          <p:cNvSpPr/>
          <p:nvPr/>
        </p:nvSpPr>
        <p:spPr>
          <a:xfrm>
            <a:off x="6766560" y="2148840"/>
            <a:ext cx="4709160" cy="60350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Targeted recipients, affected hosts, and execution status</a:t>
            </a:r>
            <a:endParaRPr lang="en-US" sz="1300" dirty="0"/>
          </a:p>
        </p:txBody>
      </p:sp>
      <p:sp>
        <p:nvSpPr>
          <p:cNvPr id="15" name="Shape 13"/>
          <p:cNvSpPr/>
          <p:nvPr/>
        </p:nvSpPr>
        <p:spPr>
          <a:xfrm>
            <a:off x="548640" y="2880360"/>
            <a:ext cx="5349240" cy="603504"/>
          </a:xfrm>
          <a:prstGeom prst="roundRect">
            <a:avLst>
              <a:gd name="adj" fmla="val 12121"/>
            </a:avLst>
          </a:prstGeom>
          <a:solidFill>
            <a:srgbClr val="16233B"/>
          </a:solidFill>
          <a:ln/>
        </p:spPr>
        <p:txBody>
          <a:bodyPr/>
          <a:lstStyle/>
          <a:p>
            <a:endParaRPr lang="en-US"/>
          </a:p>
        </p:txBody>
      </p:sp>
      <p:sp>
        <p:nvSpPr>
          <p:cNvPr id="16" name="Shape 14"/>
          <p:cNvSpPr/>
          <p:nvPr/>
        </p:nvSpPr>
        <p:spPr>
          <a:xfrm>
            <a:off x="694944" y="3081528"/>
            <a:ext cx="201168" cy="201168"/>
          </a:xfrm>
          <a:prstGeom prst="ellipse">
            <a:avLst/>
          </a:prstGeom>
          <a:solidFill>
            <a:srgbClr val="F2A93B"/>
          </a:solidFill>
          <a:ln/>
        </p:spPr>
        <p:txBody>
          <a:bodyPr/>
          <a:lstStyle/>
          <a:p>
            <a:endParaRPr lang="en-US"/>
          </a:p>
        </p:txBody>
      </p:sp>
      <p:sp>
        <p:nvSpPr>
          <p:cNvPr id="17" name="Text 15"/>
          <p:cNvSpPr/>
          <p:nvPr/>
        </p:nvSpPr>
        <p:spPr>
          <a:xfrm>
            <a:off x="1051560" y="2880360"/>
            <a:ext cx="4709160" cy="60350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Validated IOCs: sender IP, URL, payload hash, C2, Hash</a:t>
            </a:r>
            <a:endParaRPr lang="en-US" sz="1300" dirty="0"/>
          </a:p>
        </p:txBody>
      </p:sp>
      <p:sp>
        <p:nvSpPr>
          <p:cNvPr id="18" name="Shape 16"/>
          <p:cNvSpPr/>
          <p:nvPr/>
        </p:nvSpPr>
        <p:spPr>
          <a:xfrm>
            <a:off x="6263640" y="2880360"/>
            <a:ext cx="5349240" cy="603504"/>
          </a:xfrm>
          <a:prstGeom prst="roundRect">
            <a:avLst>
              <a:gd name="adj" fmla="val 12121"/>
            </a:avLst>
          </a:prstGeom>
          <a:solidFill>
            <a:srgbClr val="16233B"/>
          </a:solidFill>
          <a:ln/>
        </p:spPr>
        <p:txBody>
          <a:bodyPr/>
          <a:lstStyle/>
          <a:p>
            <a:endParaRPr lang="en-US"/>
          </a:p>
        </p:txBody>
      </p:sp>
      <p:sp>
        <p:nvSpPr>
          <p:cNvPr id="19" name="Shape 17"/>
          <p:cNvSpPr/>
          <p:nvPr/>
        </p:nvSpPr>
        <p:spPr>
          <a:xfrm>
            <a:off x="6409944" y="3081528"/>
            <a:ext cx="201168" cy="201168"/>
          </a:xfrm>
          <a:prstGeom prst="ellipse">
            <a:avLst/>
          </a:prstGeom>
          <a:solidFill>
            <a:srgbClr val="F2A93B"/>
          </a:solidFill>
          <a:ln/>
        </p:spPr>
        <p:txBody>
          <a:bodyPr/>
          <a:lstStyle/>
          <a:p>
            <a:endParaRPr lang="en-US"/>
          </a:p>
        </p:txBody>
      </p:sp>
      <p:sp>
        <p:nvSpPr>
          <p:cNvPr id="20" name="Text 18"/>
          <p:cNvSpPr/>
          <p:nvPr/>
        </p:nvSpPr>
        <p:spPr>
          <a:xfrm>
            <a:off x="6766560" y="2880360"/>
            <a:ext cx="4709160" cy="60350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Missing evidence request list</a:t>
            </a:r>
            <a:endParaRPr lang="en-US" sz="1300" dirty="0"/>
          </a:p>
        </p:txBody>
      </p:sp>
      <p:sp>
        <p:nvSpPr>
          <p:cNvPr id="21" name="Shape 19"/>
          <p:cNvSpPr/>
          <p:nvPr/>
        </p:nvSpPr>
        <p:spPr>
          <a:xfrm>
            <a:off x="548640" y="3611880"/>
            <a:ext cx="5349240" cy="603504"/>
          </a:xfrm>
          <a:prstGeom prst="roundRect">
            <a:avLst>
              <a:gd name="adj" fmla="val 12121"/>
            </a:avLst>
          </a:prstGeom>
          <a:solidFill>
            <a:srgbClr val="16233B"/>
          </a:solidFill>
          <a:ln/>
        </p:spPr>
        <p:txBody>
          <a:bodyPr/>
          <a:lstStyle/>
          <a:p>
            <a:endParaRPr lang="en-US"/>
          </a:p>
        </p:txBody>
      </p:sp>
      <p:sp>
        <p:nvSpPr>
          <p:cNvPr id="22" name="Shape 20"/>
          <p:cNvSpPr/>
          <p:nvPr/>
        </p:nvSpPr>
        <p:spPr>
          <a:xfrm>
            <a:off x="694944" y="3813048"/>
            <a:ext cx="201168" cy="201168"/>
          </a:xfrm>
          <a:prstGeom prst="ellipse">
            <a:avLst/>
          </a:prstGeom>
          <a:solidFill>
            <a:srgbClr val="F2A93B"/>
          </a:solidFill>
          <a:ln/>
        </p:spPr>
        <p:txBody>
          <a:bodyPr/>
          <a:lstStyle/>
          <a:p>
            <a:endParaRPr lang="en-US"/>
          </a:p>
        </p:txBody>
      </p:sp>
      <p:sp>
        <p:nvSpPr>
          <p:cNvPr id="23" name="Text 21"/>
          <p:cNvSpPr/>
          <p:nvPr/>
        </p:nvSpPr>
        <p:spPr>
          <a:xfrm>
            <a:off x="1051560" y="3611880"/>
            <a:ext cx="4709160" cy="60350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Containment: block URL/IP, purge email, reset credentials</a:t>
            </a:r>
            <a:endParaRPr lang="en-US" sz="1300" dirty="0"/>
          </a:p>
        </p:txBody>
      </p:sp>
      <p:sp>
        <p:nvSpPr>
          <p:cNvPr id="24" name="Shape 22"/>
          <p:cNvSpPr/>
          <p:nvPr/>
        </p:nvSpPr>
        <p:spPr>
          <a:xfrm>
            <a:off x="6263640" y="3611880"/>
            <a:ext cx="5349240" cy="603504"/>
          </a:xfrm>
          <a:prstGeom prst="roundRect">
            <a:avLst>
              <a:gd name="adj" fmla="val 12121"/>
            </a:avLst>
          </a:prstGeom>
          <a:solidFill>
            <a:srgbClr val="16233B"/>
          </a:solidFill>
          <a:ln/>
        </p:spPr>
        <p:txBody>
          <a:bodyPr/>
          <a:lstStyle/>
          <a:p>
            <a:endParaRPr lang="en-US"/>
          </a:p>
        </p:txBody>
      </p:sp>
      <p:sp>
        <p:nvSpPr>
          <p:cNvPr id="25" name="Shape 23"/>
          <p:cNvSpPr/>
          <p:nvPr/>
        </p:nvSpPr>
        <p:spPr>
          <a:xfrm>
            <a:off x="6409944" y="3813048"/>
            <a:ext cx="201168" cy="201168"/>
          </a:xfrm>
          <a:prstGeom prst="ellipse">
            <a:avLst/>
          </a:prstGeom>
          <a:solidFill>
            <a:srgbClr val="F2A93B"/>
          </a:solidFill>
          <a:ln/>
        </p:spPr>
        <p:txBody>
          <a:bodyPr/>
          <a:lstStyle/>
          <a:p>
            <a:endParaRPr lang="en-US"/>
          </a:p>
        </p:txBody>
      </p:sp>
      <p:sp>
        <p:nvSpPr>
          <p:cNvPr id="26" name="Text 24"/>
          <p:cNvSpPr/>
          <p:nvPr/>
        </p:nvSpPr>
        <p:spPr>
          <a:xfrm>
            <a:off x="6766560" y="3611880"/>
            <a:ext cx="4709160" cy="603504"/>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Short incident update for an IR lead</a:t>
            </a:r>
            <a:endParaRPr lang="en-US" sz="1300" dirty="0"/>
          </a:p>
        </p:txBody>
      </p:sp>
      <p:sp>
        <p:nvSpPr>
          <p:cNvPr id="27" name="Text 25"/>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E7F9C"/>
                </a:solidFill>
                <a:latin typeface="Calibri" pitchFamily="34" charset="0"/>
                <a:ea typeface="Calibri" pitchFamily="34" charset="-122"/>
                <a:cs typeface="Calibri" pitchFamily="34" charset="-120"/>
              </a:rPr>
              <a:t>Deliverables</a:t>
            </a:r>
            <a:endParaRPr lang="en-US" sz="1000" dirty="0"/>
          </a:p>
        </p:txBody>
      </p:sp>
      <p:sp>
        <p:nvSpPr>
          <p:cNvPr id="28" name="Text 26"/>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6E7F9C"/>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502920"/>
          </a:xfrm>
          <a:prstGeom prst="rect">
            <a:avLst/>
          </a:prstGeom>
          <a:noFill/>
          <a:ln/>
        </p:spPr>
        <p:txBody>
          <a:bodyPr wrap="square" rtlCol="0" anchor="ctr"/>
          <a:lstStyle/>
          <a:p>
            <a:pPr marL="0" indent="0">
              <a:buNone/>
            </a:pPr>
            <a:r>
              <a:rPr lang="en-US" sz="2700" b="1" dirty="0">
                <a:solidFill>
                  <a:srgbClr val="0B1626"/>
                </a:solidFill>
                <a:latin typeface="Cambria" pitchFamily="34" charset="0"/>
                <a:ea typeface="Cambria" pitchFamily="34" charset="-122"/>
                <a:cs typeface="Cambria" pitchFamily="34" charset="-120"/>
              </a:rPr>
              <a:t>Case Walkthrough: The Timeline</a:t>
            </a:r>
            <a:endParaRPr lang="en-US" sz="2700" dirty="0"/>
          </a:p>
        </p:txBody>
      </p:sp>
      <p:sp>
        <p:nvSpPr>
          <p:cNvPr id="3" name="Text 1"/>
          <p:cNvSpPr/>
          <p:nvPr/>
        </p:nvSpPr>
        <p:spPr>
          <a:xfrm>
            <a:off x="548640" y="896112"/>
            <a:ext cx="10515600" cy="365760"/>
          </a:xfrm>
          <a:prstGeom prst="rect">
            <a:avLst/>
          </a:prstGeom>
          <a:noFill/>
          <a:ln/>
        </p:spPr>
        <p:txBody>
          <a:bodyPr wrap="square" rtlCol="0" anchor="ctr"/>
          <a:lstStyle/>
          <a:p>
            <a:pPr marL="0" indent="0">
              <a:buNone/>
            </a:pPr>
            <a:r>
              <a:rPr lang="en-US" sz="1300" i="1" dirty="0">
                <a:solidFill>
                  <a:srgbClr val="44536B"/>
                </a:solidFill>
                <a:latin typeface="Calibri" pitchFamily="34" charset="0"/>
                <a:ea typeface="Calibri" pitchFamily="34" charset="-122"/>
                <a:cs typeface="Calibri" pitchFamily="34" charset="-120"/>
              </a:rPr>
              <a:t>Phishing Email Delivering Malware Loader  ·  Email.eml  ·  Confidence: Medium</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401568"/>
        </p:xfrm>
        <a:graphic>
          <a:graphicData uri="http://schemas.openxmlformats.org/drawingml/2006/table">
            <a:tbl>
              <a:tblPr/>
              <a:tblGrid>
                <a:gridCol w="11887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1623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16233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INTERPRETATION</a:t>
                      </a:r>
                      <a:endParaRPr lang="en-US" sz="120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16233B"/>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0B1626"/>
                          </a:solidFill>
                          <a:latin typeface="Calibri" pitchFamily="34" charset="0"/>
                          <a:ea typeface="Calibri" pitchFamily="34" charset="-122"/>
                          <a:cs typeface="Calibri" pitchFamily="34" charset="-120"/>
                        </a:rPr>
                        <a:t>09:58</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FFFFF"/>
                    </a:solidFill>
                  </a:tcPr>
                </a:tc>
                <a:tc>
                  <a:txBody>
                    <a:bodyPr/>
                    <a:lstStyle/>
                    <a:p>
                      <a:pPr marL="0" indent="0">
                        <a:buNone/>
                      </a:pPr>
                      <a:r>
                        <a:rPr lang="en-US" sz="1250" dirty="0">
                          <a:solidFill>
                            <a:srgbClr val="44536B"/>
                          </a:solidFill>
                          <a:latin typeface="Calibri" pitchFamily="34" charset="0"/>
                          <a:ea typeface="Calibri" pitchFamily="34" charset="-122"/>
                          <a:cs typeface="Calibri" pitchFamily="34" charset="-120"/>
                        </a:rPr>
                        <a:t>Phishing email arrives from spoofed trusted contact (uptc.edu.co)</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FFFFF"/>
                    </a:solidFill>
                  </a:tcPr>
                </a:tc>
                <a:tc>
                  <a:txBody>
                    <a:bodyPr/>
                    <a:lstStyle/>
                    <a:p>
                      <a:pPr marL="0" indent="0">
                        <a:buNone/>
                      </a:pPr>
                      <a:r>
                        <a:rPr lang="en-US" sz="1250" i="1" dirty="0">
                          <a:solidFill>
                            <a:srgbClr val="44536B"/>
                          </a:solidFill>
                          <a:latin typeface="Calibri" pitchFamily="34" charset="0"/>
                          <a:ea typeface="Calibri" pitchFamily="34" charset="-122"/>
                          <a:cs typeface="Calibri" pitchFamily="34" charset="-120"/>
                        </a:rPr>
                        <a:t>Initial access — spearphishing</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0F3F9"/>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0B1626"/>
                          </a:solidFill>
                          <a:latin typeface="Calibri" pitchFamily="34" charset="0"/>
                          <a:ea typeface="Calibri" pitchFamily="34" charset="-122"/>
                          <a:cs typeface="Calibri" pitchFamily="34" charset="-120"/>
                        </a:rPr>
                        <a:t>10:02</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FFFFF"/>
                    </a:solidFill>
                  </a:tcPr>
                </a:tc>
                <a:tc>
                  <a:txBody>
                    <a:bodyPr/>
                    <a:lstStyle/>
                    <a:p>
                      <a:pPr marL="0" indent="0">
                        <a:buNone/>
                      </a:pPr>
                      <a:r>
                        <a:rPr lang="en-US" sz="1250" dirty="0">
                          <a:solidFill>
                            <a:srgbClr val="44536B"/>
                          </a:solidFill>
                          <a:latin typeface="Calibri" pitchFamily="34" charset="0"/>
                          <a:ea typeface="Calibri" pitchFamily="34" charset="-122"/>
                          <a:cs typeface="Calibri" pitchFamily="34" charset="-120"/>
                        </a:rPr>
                        <a:t>SPF softfail / DKIM fail / DMARC none observed in headers</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FFFFF"/>
                    </a:solidFill>
                  </a:tcPr>
                </a:tc>
                <a:tc>
                  <a:txBody>
                    <a:bodyPr/>
                    <a:lstStyle/>
                    <a:p>
                      <a:pPr marL="0" indent="0">
                        <a:buNone/>
                      </a:pPr>
                      <a:r>
                        <a:rPr lang="en-US" sz="1250" i="1" dirty="0">
                          <a:solidFill>
                            <a:srgbClr val="44536B"/>
                          </a:solidFill>
                          <a:latin typeface="Calibri" pitchFamily="34" charset="0"/>
                          <a:ea typeface="Calibri" pitchFamily="34" charset="-122"/>
                          <a:cs typeface="Calibri" pitchFamily="34" charset="-120"/>
                        </a:rPr>
                        <a:t>Spoofing indicator — authentication failure</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0F3F9"/>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0B1626"/>
                          </a:solidFill>
                          <a:latin typeface="Calibri" pitchFamily="34" charset="0"/>
                          <a:ea typeface="Calibri" pitchFamily="34" charset="-122"/>
                          <a:cs typeface="Calibri" pitchFamily="34" charset="-120"/>
                        </a:rPr>
                        <a:t>10:05</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FFFFF"/>
                    </a:solidFill>
                  </a:tcPr>
                </a:tc>
                <a:tc>
                  <a:txBody>
                    <a:bodyPr/>
                    <a:lstStyle/>
                    <a:p>
                      <a:pPr marL="0" indent="0">
                        <a:buNone/>
                      </a:pPr>
                      <a:r>
                        <a:rPr lang="en-US" sz="1250" dirty="0">
                          <a:solidFill>
                            <a:srgbClr val="44536B"/>
                          </a:solidFill>
                          <a:latin typeface="Calibri" pitchFamily="34" charset="0"/>
                          <a:ea typeface="Calibri" pitchFamily="34" charset="-122"/>
                          <a:cs typeface="Calibri" pitchFamily="34" charset="-120"/>
                        </a:rPr>
                        <a:t>Faculty user clicks “VIEW INVOICE” link</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FFFFF"/>
                    </a:solidFill>
                  </a:tcPr>
                </a:tc>
                <a:tc>
                  <a:txBody>
                    <a:bodyPr/>
                    <a:lstStyle/>
                    <a:p>
                      <a:pPr marL="0" indent="0">
                        <a:buNone/>
                      </a:pPr>
                      <a:r>
                        <a:rPr lang="en-US" sz="1250" i="1" dirty="0">
                          <a:solidFill>
                            <a:srgbClr val="44536B"/>
                          </a:solidFill>
                          <a:latin typeface="Calibri" pitchFamily="34" charset="0"/>
                          <a:ea typeface="Calibri" pitchFamily="34" charset="-122"/>
                          <a:cs typeface="Calibri" pitchFamily="34" charset="-120"/>
                        </a:rPr>
                        <a:t>User interaction — execution begins</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0F3F9"/>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0B1626"/>
                          </a:solidFill>
                          <a:latin typeface="Calibri" pitchFamily="34" charset="0"/>
                          <a:ea typeface="Calibri" pitchFamily="34" charset="-122"/>
                          <a:cs typeface="Calibri" pitchFamily="34" charset="-120"/>
                        </a:rPr>
                        <a:t>10:06</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FFFFF"/>
                    </a:solidFill>
                  </a:tcPr>
                </a:tc>
                <a:tc>
                  <a:txBody>
                    <a:bodyPr/>
                    <a:lstStyle/>
                    <a:p>
                      <a:pPr marL="0" indent="0">
                        <a:buNone/>
                      </a:pPr>
                      <a:r>
                        <a:rPr lang="en-US" sz="1250" dirty="0">
                          <a:solidFill>
                            <a:srgbClr val="44536B"/>
                          </a:solidFill>
                          <a:latin typeface="Calibri" pitchFamily="34" charset="0"/>
                          <a:ea typeface="Calibri" pitchFamily="34" charset="-122"/>
                          <a:cs typeface="Calibri" pitchFamily="34" charset="-120"/>
                        </a:rPr>
                        <a:t>install.exe downloaded from 107.175.247.199/loader</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FFFFF"/>
                    </a:solidFill>
                  </a:tcPr>
                </a:tc>
                <a:tc>
                  <a:txBody>
                    <a:bodyPr/>
                    <a:lstStyle/>
                    <a:p>
                      <a:pPr marL="0" indent="0">
                        <a:buNone/>
                      </a:pPr>
                      <a:r>
                        <a:rPr lang="en-US" sz="1250" i="1" dirty="0">
                          <a:solidFill>
                            <a:srgbClr val="44536B"/>
                          </a:solidFill>
                          <a:latin typeface="Calibri" pitchFamily="34" charset="0"/>
                          <a:ea typeface="Calibri" pitchFamily="34" charset="-122"/>
                          <a:cs typeface="Calibri" pitchFamily="34" charset="-120"/>
                        </a:rPr>
                        <a:t>Payload retrieval — execution</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0F3F9"/>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0B1626"/>
                          </a:solidFill>
                          <a:latin typeface="Calibri" pitchFamily="34" charset="0"/>
                          <a:ea typeface="Calibri" pitchFamily="34" charset="-122"/>
                          <a:cs typeface="Calibri" pitchFamily="34" charset="-120"/>
                        </a:rPr>
                        <a:t>10:09</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FFFFF"/>
                    </a:solidFill>
                  </a:tcPr>
                </a:tc>
                <a:tc>
                  <a:txBody>
                    <a:bodyPr/>
                    <a:lstStyle/>
                    <a:p>
                      <a:pPr marL="0" indent="0">
                        <a:buNone/>
                      </a:pPr>
                      <a:r>
                        <a:rPr lang="en-US" sz="1250" dirty="0">
                          <a:solidFill>
                            <a:srgbClr val="44536B"/>
                          </a:solidFill>
                          <a:latin typeface="Calibri" pitchFamily="34" charset="0"/>
                          <a:ea typeface="Calibri" pitchFamily="34" charset="-122"/>
                          <a:cs typeface="Calibri" pitchFamily="34" charset="-120"/>
                        </a:rPr>
                        <a:t>Outbound C2 connection attempt + failed logins</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FFFFF"/>
                    </a:solidFill>
                  </a:tcPr>
                </a:tc>
                <a:tc>
                  <a:txBody>
                    <a:bodyPr/>
                    <a:lstStyle/>
                    <a:p>
                      <a:pPr marL="0" indent="0">
                        <a:buNone/>
                      </a:pPr>
                      <a:r>
                        <a:rPr lang="en-US" sz="1250" i="1" dirty="0">
                          <a:solidFill>
                            <a:srgbClr val="44536B"/>
                          </a:solidFill>
                          <a:latin typeface="Calibri" pitchFamily="34" charset="0"/>
                          <a:ea typeface="Calibri" pitchFamily="34" charset="-122"/>
                          <a:cs typeface="Calibri" pitchFamily="34" charset="-120"/>
                        </a:rPr>
                        <a:t>Possible C2 / credential misuse</a:t>
                      </a:r>
                      <a:endParaRPr lang="en-US" sz="1250" dirty="0">
                        <a:latin typeface="Calibri" charset="0"/>
                        <a:ea typeface="Calibri" charset="0"/>
                        <a:cs typeface="Calibri" charset="0"/>
                      </a:endParaRPr>
                    </a:p>
                  </a:txBody>
                  <a:tcPr anchor="ctr">
                    <a:lnL w="12700" cap="flat" cmpd="sng" algn="ctr">
                      <a:solidFill>
                        <a:srgbClr val="E2E7F0"/>
                      </a:solidFill>
                      <a:prstDash val="solid"/>
                      <a:round/>
                      <a:headEnd type="none" w="med" len="med"/>
                      <a:tailEnd type="none" w="med" len="med"/>
                    </a:lnL>
                    <a:lnR w="12700" cap="flat" cmpd="sng" algn="ctr">
                      <a:solidFill>
                        <a:srgbClr val="E2E7F0"/>
                      </a:solidFill>
                      <a:prstDash val="solid"/>
                      <a:round/>
                      <a:headEnd type="none" w="med" len="med"/>
                      <a:tailEnd type="none" w="med" len="med"/>
                    </a:lnR>
                    <a:lnT w="12700" cap="flat" cmpd="sng" algn="ctr">
                      <a:solidFill>
                        <a:srgbClr val="E2E7F0"/>
                      </a:solidFill>
                      <a:prstDash val="solid"/>
                      <a:round/>
                      <a:headEnd type="none" w="med" len="med"/>
                      <a:tailEnd type="none" w="med" len="med"/>
                    </a:lnT>
                    <a:lnB w="12700" cap="flat" cmpd="sng" algn="ctr">
                      <a:solidFill>
                        <a:srgbClr val="E2E7F0"/>
                      </a:solidFill>
                      <a:prstDash val="solid"/>
                      <a:round/>
                      <a:headEnd type="none" w="med" len="med"/>
                      <a:tailEnd type="none" w="med" len="med"/>
                    </a:lnB>
                    <a:solidFill>
                      <a:srgbClr val="F0F3F9"/>
                    </a:solidFill>
                  </a:tcPr>
                </a:tc>
                <a:extLst>
                  <a:ext uri="{0D108BD9-81ED-4DB2-BD59-A6C34878D82A}">
                    <a16:rowId xmlns:a16="http://schemas.microsoft.com/office/drawing/2014/main" val="10005"/>
                  </a:ext>
                </a:extLst>
              </a:tr>
            </a:tbl>
          </a:graphicData>
        </a:graphic>
      </p:graphicFrame>
      <p:sp>
        <p:nvSpPr>
          <p:cNvPr id="5" name="Text 2"/>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9AA7BB"/>
                </a:solidFill>
                <a:latin typeface="Calibri" pitchFamily="34" charset="0"/>
                <a:ea typeface="Calibri" pitchFamily="34" charset="-122"/>
                <a:cs typeface="Calibri" pitchFamily="34" charset="-120"/>
              </a:rPr>
              <a:t>First-Hour Timeline</a:t>
            </a:r>
            <a:endParaRPr lang="en-US" sz="1000" dirty="0"/>
          </a:p>
        </p:txBody>
      </p:sp>
      <p:sp>
        <p:nvSpPr>
          <p:cNvPr id="6" name="Text 3"/>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9AA7BB"/>
                </a:solidFill>
                <a:latin typeface="Calibri" pitchFamily="34" charset="0"/>
                <a:ea typeface="Calibri" pitchFamily="34" charset="-122"/>
                <a:cs typeface="Calibri" pitchFamily="34" charset="-120"/>
              </a:rPr>
              <a:t>Week 1 Lab</a:t>
            </a:r>
            <a:endParaRPr lang="en-US" sz="1000" dirty="0"/>
          </a:p>
        </p:txBody>
      </p:sp>
      <p:sp>
        <p:nvSpPr>
          <p:cNvPr id="7" name="TextBox 6">
            <a:extLst>
              <a:ext uri="{FF2B5EF4-FFF2-40B4-BE49-F238E27FC236}">
                <a16:creationId xmlns:a16="http://schemas.microsoft.com/office/drawing/2014/main" id="{F06346EA-97DA-145D-9704-8AE7AAD2FA8D}"/>
              </a:ext>
            </a:extLst>
          </p:cNvPr>
          <p:cNvSpPr txBox="1"/>
          <p:nvPr/>
        </p:nvSpPr>
        <p:spPr>
          <a:xfrm>
            <a:off x="871870" y="5497586"/>
            <a:ext cx="8689458" cy="477054"/>
          </a:xfrm>
          <a:prstGeom prst="rect">
            <a:avLst/>
          </a:prstGeom>
          <a:noFill/>
        </p:spPr>
        <p:txBody>
          <a:bodyPr wrap="square">
            <a:spAutoFit/>
          </a:bodyPr>
          <a:lstStyle/>
          <a:p>
            <a:r>
              <a:rPr lang="en-US" sz="1250" b="0" i="0" dirty="0">
                <a:effectLst/>
                <a:latin typeface="gg sans"/>
              </a:rPr>
              <a:t>IOC: </a:t>
            </a:r>
          </a:p>
          <a:p>
            <a:r>
              <a:rPr lang="en-US" sz="1250" b="0" i="0" dirty="0">
                <a:effectLst/>
                <a:latin typeface="gg sans"/>
              </a:rPr>
              <a:t>bf7628695c2df7a3020034a065397592a1f8850e59f9a448b555bc1c8c639539</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B1626"/>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Validated vs. Weak Indicators</a:t>
            </a:r>
            <a:endParaRPr lang="en-US" sz="2800" dirty="0"/>
          </a:p>
        </p:txBody>
      </p:sp>
      <p:sp>
        <p:nvSpPr>
          <p:cNvPr id="3" name="Text 1"/>
          <p:cNvSpPr/>
          <p:nvPr/>
        </p:nvSpPr>
        <p:spPr>
          <a:xfrm>
            <a:off x="548640" y="960120"/>
            <a:ext cx="9144000" cy="365760"/>
          </a:xfrm>
          <a:prstGeom prst="rect">
            <a:avLst/>
          </a:prstGeom>
          <a:noFill/>
          <a:ln/>
        </p:spPr>
        <p:txBody>
          <a:bodyPr wrap="square" rtlCol="0" anchor="ctr"/>
          <a:lstStyle/>
          <a:p>
            <a:pPr marL="0" indent="0">
              <a:buNone/>
            </a:pPr>
            <a:r>
              <a:rPr lang="en-US" sz="1350" i="1" dirty="0">
                <a:solidFill>
                  <a:srgbClr val="9AA7BB"/>
                </a:solidFill>
                <a:latin typeface="Calibri" pitchFamily="34" charset="0"/>
                <a:ea typeface="Calibri" pitchFamily="34" charset="-122"/>
                <a:cs typeface="Calibri" pitchFamily="34" charset="-120"/>
              </a:rPr>
              <a:t>Comparing artifact observations against threat intelligence — and deciding first-hour containment</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2743200"/>
        </p:xfrm>
        <a:graphic>
          <a:graphicData uri="http://schemas.openxmlformats.org/drawingml/2006/table">
            <a:tbl>
              <a:tblPr/>
              <a:tblGrid>
                <a:gridCol w="32918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685800">
                <a:tc>
                  <a:txBody>
                    <a:bodyPr/>
                    <a:lstStyle/>
                    <a:p>
                      <a:pPr marL="0" indent="0">
                        <a:buNone/>
                      </a:pPr>
                      <a:r>
                        <a:rPr lang="en-US" sz="1200" b="1" dirty="0">
                          <a:solidFill>
                            <a:srgbClr val="0B1626"/>
                          </a:solidFill>
                          <a:latin typeface="Calibri" pitchFamily="34" charset="0"/>
                          <a:ea typeface="Calibri" pitchFamily="34" charset="-122"/>
                          <a:cs typeface="Calibri" pitchFamily="34" charset="-120"/>
                        </a:rPr>
                        <a:t>INDICATOR</a:t>
                      </a:r>
                      <a:endParaRPr lang="en-US" sz="120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F2A93B"/>
                    </a:solidFill>
                  </a:tcPr>
                </a:tc>
                <a:tc>
                  <a:txBody>
                    <a:bodyPr/>
                    <a:lstStyle/>
                    <a:p>
                      <a:pPr marL="0" indent="0">
                        <a:buNone/>
                      </a:pPr>
                      <a:r>
                        <a:rPr lang="en-US" sz="1200" b="1" dirty="0">
                          <a:solidFill>
                            <a:srgbClr val="0B1626"/>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F2A93B"/>
                    </a:solidFill>
                  </a:tcPr>
                </a:tc>
                <a:tc>
                  <a:txBody>
                    <a:bodyPr/>
                    <a:lstStyle/>
                    <a:p>
                      <a:pPr marL="0" indent="0">
                        <a:buNone/>
                      </a:pPr>
                      <a:r>
                        <a:rPr lang="en-US" sz="1200" b="1" dirty="0">
                          <a:solidFill>
                            <a:srgbClr val="0B1626"/>
                          </a:solidFill>
                          <a:latin typeface="Calibri" pitchFamily="34" charset="0"/>
                          <a:ea typeface="Calibri" pitchFamily="34" charset="-122"/>
                          <a:cs typeface="Calibri" pitchFamily="34" charset="-120"/>
                        </a:rPr>
                        <a:t>CONFIDENCE</a:t>
                      </a:r>
                      <a:endParaRPr lang="en-US" sz="120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F2A93B"/>
                    </a:solidFill>
                  </a:tcPr>
                </a:tc>
                <a:tc>
                  <a:txBody>
                    <a:bodyPr/>
                    <a:lstStyle/>
                    <a:p>
                      <a:pPr marL="0" indent="0">
                        <a:buNone/>
                      </a:pPr>
                      <a:r>
                        <a:rPr lang="en-US" sz="1200" b="1" dirty="0">
                          <a:solidFill>
                            <a:srgbClr val="0B1626"/>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F2A93B"/>
                    </a:solidFill>
                  </a:tcPr>
                </a:tc>
                <a:extLst>
                  <a:ext uri="{0D108BD9-81ED-4DB2-BD59-A6C34878D82A}">
                    <a16:rowId xmlns:a16="http://schemas.microsoft.com/office/drawing/2014/main" val="10000"/>
                  </a:ext>
                </a:extLst>
              </a:tr>
              <a:tr h="68580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107.175.247.199/loader/install.exe</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tc>
                  <a:txBody>
                    <a:bodyPr/>
                    <a:lstStyle/>
                    <a:p>
                      <a:pPr marL="0" indent="0">
                        <a:buNone/>
                      </a:pPr>
                      <a:r>
                        <a:rPr lang="en-US" sz="1250" dirty="0">
                          <a:solidFill>
                            <a:srgbClr val="CBD9EE"/>
                          </a:solidFill>
                          <a:latin typeface="Calibri" pitchFamily="34" charset="0"/>
                          <a:ea typeface="Calibri" pitchFamily="34" charset="-122"/>
                          <a:cs typeface="Calibri" pitchFamily="34" charset="-120"/>
                        </a:rPr>
                        <a:t>URL</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tc>
                  <a:txBody>
                    <a:bodyPr/>
                    <a:lstStyle/>
                    <a:p>
                      <a:pPr marL="0" indent="0" algn="ctr">
                        <a:buNone/>
                      </a:pPr>
                      <a:r>
                        <a:rPr lang="en-US" sz="1250" dirty="0">
                          <a:solidFill>
                            <a:srgbClr val="CBD9EE"/>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tc>
                  <a:txBody>
                    <a:bodyPr/>
                    <a:lstStyle/>
                    <a:p>
                      <a:pPr marL="0" indent="0">
                        <a:buNone/>
                      </a:pPr>
                      <a:r>
                        <a:rPr lang="en-US" sz="1250" dirty="0">
                          <a:solidFill>
                            <a:srgbClr val="CBD9EE"/>
                          </a:solidFill>
                          <a:latin typeface="Calibri" pitchFamily="34" charset="0"/>
                          <a:ea typeface="Calibri" pitchFamily="34" charset="-122"/>
                          <a:cs typeface="Calibri" pitchFamily="34" charset="-120"/>
                        </a:rPr>
                        <a:t>Block at proxy; hunt for downloads</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extLst>
                  <a:ext uri="{0D108BD9-81ED-4DB2-BD59-A6C34878D82A}">
                    <a16:rowId xmlns:a16="http://schemas.microsoft.com/office/drawing/2014/main" val="10001"/>
                  </a:ext>
                </a:extLst>
              </a:tr>
              <a:tr h="68580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107.175.247.199</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tc>
                  <a:txBody>
                    <a:bodyPr/>
                    <a:lstStyle/>
                    <a:p>
                      <a:pPr marL="0" indent="0">
                        <a:buNone/>
                      </a:pPr>
                      <a:r>
                        <a:rPr lang="en-US" sz="1250" dirty="0">
                          <a:solidFill>
                            <a:srgbClr val="CBD9EE"/>
                          </a:solidFill>
                          <a:latin typeface="Calibri" pitchFamily="34" charset="0"/>
                          <a:ea typeface="Calibri" pitchFamily="34" charset="-122"/>
                          <a:cs typeface="Calibri" pitchFamily="34" charset="-120"/>
                        </a:rPr>
                        <a:t>IP address</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tc>
                  <a:txBody>
                    <a:bodyPr/>
                    <a:lstStyle/>
                    <a:p>
                      <a:pPr marL="0" indent="0" algn="ctr">
                        <a:buNone/>
                      </a:pPr>
                      <a:r>
                        <a:rPr lang="en-US" sz="1250" dirty="0">
                          <a:solidFill>
                            <a:srgbClr val="CBD9EE"/>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tc>
                  <a:txBody>
                    <a:bodyPr/>
                    <a:lstStyle/>
                    <a:p>
                      <a:pPr marL="0" indent="0">
                        <a:buNone/>
                      </a:pPr>
                      <a:r>
                        <a:rPr lang="en-US" sz="1250" dirty="0">
                          <a:solidFill>
                            <a:srgbClr val="CBD9EE"/>
                          </a:solidFill>
                          <a:latin typeface="Calibri" pitchFamily="34" charset="0"/>
                          <a:ea typeface="Calibri" pitchFamily="34" charset="-122"/>
                          <a:cs typeface="Calibri" pitchFamily="34" charset="-120"/>
                        </a:rPr>
                        <a:t>Block; investigate for C2 traffic</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extLst>
                  <a:ext uri="{0D108BD9-81ED-4DB2-BD59-A6C34878D82A}">
                    <a16:rowId xmlns:a16="http://schemas.microsoft.com/office/drawing/2014/main" val="10002"/>
                  </a:ext>
                </a:extLst>
              </a:tr>
              <a:tr h="68580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uptc.edu.co (spoofed sender)</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tc>
                  <a:txBody>
                    <a:bodyPr/>
                    <a:lstStyle/>
                    <a:p>
                      <a:pPr marL="0" indent="0">
                        <a:buNone/>
                      </a:pPr>
                      <a:r>
                        <a:rPr lang="en-US" sz="1250" dirty="0">
                          <a:solidFill>
                            <a:srgbClr val="CBD9EE"/>
                          </a:solidFill>
                          <a:latin typeface="Calibri" pitchFamily="34" charset="0"/>
                          <a:ea typeface="Calibri" pitchFamily="34" charset="-122"/>
                          <a:cs typeface="Calibri" pitchFamily="34" charset="-120"/>
                        </a:rPr>
                        <a:t>Domain</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tc>
                  <a:txBody>
                    <a:bodyPr/>
                    <a:lstStyle/>
                    <a:p>
                      <a:pPr marL="0" indent="0" algn="ctr">
                        <a:buNone/>
                      </a:pPr>
                      <a:r>
                        <a:rPr lang="en-US" sz="1250" dirty="0">
                          <a:solidFill>
                            <a:srgbClr val="CBD9EE"/>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tc>
                  <a:txBody>
                    <a:bodyPr/>
                    <a:lstStyle/>
                    <a:p>
                      <a:pPr marL="0" indent="0">
                        <a:buNone/>
                      </a:pPr>
                      <a:r>
                        <a:rPr lang="en-US" sz="1250" dirty="0">
                          <a:solidFill>
                            <a:srgbClr val="CBD9EE"/>
                          </a:solidFill>
                          <a:latin typeface="Calibri" pitchFamily="34" charset="0"/>
                          <a:ea typeface="Calibri" pitchFamily="34" charset="-122"/>
                          <a:cs typeface="Calibri" pitchFamily="34" charset="-120"/>
                        </a:rPr>
                        <a:t>Flag; tune DMARC/SPF; alert faculty</a:t>
                      </a:r>
                      <a:endParaRPr lang="en-US" sz="1250" dirty="0">
                        <a:latin typeface="Calibri" charset="0"/>
                        <a:ea typeface="Calibri" charset="0"/>
                        <a:cs typeface="Calibri" charset="0"/>
                      </a:endParaRPr>
                    </a:p>
                  </a:txBody>
                  <a:tcPr anchor="ctr">
                    <a:lnL w="12700" cap="flat" cmpd="sng" algn="ctr">
                      <a:solidFill>
                        <a:srgbClr val="2A3A54"/>
                      </a:solidFill>
                      <a:prstDash val="solid"/>
                      <a:round/>
                      <a:headEnd type="none" w="med" len="med"/>
                      <a:tailEnd type="none" w="med" len="med"/>
                    </a:lnL>
                    <a:lnR w="12700" cap="flat" cmpd="sng" algn="ctr">
                      <a:solidFill>
                        <a:srgbClr val="2A3A54"/>
                      </a:solidFill>
                      <a:prstDash val="solid"/>
                      <a:round/>
                      <a:headEnd type="none" w="med" len="med"/>
                      <a:tailEnd type="none" w="med" len="med"/>
                    </a:lnR>
                    <a:lnT w="12700" cap="flat" cmpd="sng" algn="ctr">
                      <a:solidFill>
                        <a:srgbClr val="2A3A54"/>
                      </a:solidFill>
                      <a:prstDash val="solid"/>
                      <a:round/>
                      <a:headEnd type="none" w="med" len="med"/>
                      <a:tailEnd type="none" w="med" len="med"/>
                    </a:lnT>
                    <a:lnB w="12700" cap="flat" cmpd="sng" algn="ctr">
                      <a:solidFill>
                        <a:srgbClr val="2A3A54"/>
                      </a:solidFill>
                      <a:prstDash val="solid"/>
                      <a:round/>
                      <a:headEnd type="none" w="med" len="med"/>
                      <a:tailEnd type="none" w="med" len="med"/>
                    </a:lnB>
                    <a:solidFill>
                      <a:srgbClr val="16233B"/>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160520"/>
            <a:ext cx="11064240" cy="1737360"/>
          </a:xfrm>
          <a:prstGeom prst="roundRect">
            <a:avLst>
              <a:gd name="adj" fmla="val 5263"/>
            </a:avLst>
          </a:prstGeom>
          <a:solidFill>
            <a:srgbClr val="16233B"/>
          </a:solidFill>
          <a:ln/>
        </p:spPr>
        <p:txBody>
          <a:bodyPr/>
          <a:lstStyle/>
          <a:p>
            <a:endParaRPr lang="en-US"/>
          </a:p>
        </p:txBody>
      </p:sp>
      <p:sp>
        <p:nvSpPr>
          <p:cNvPr id="6" name="Shape 3"/>
          <p:cNvSpPr/>
          <p:nvPr/>
        </p:nvSpPr>
        <p:spPr>
          <a:xfrm>
            <a:off x="822960" y="4434840"/>
            <a:ext cx="685800" cy="685800"/>
          </a:xfrm>
          <a:prstGeom prst="ellipse">
            <a:avLst/>
          </a:prstGeom>
          <a:solidFill>
            <a:srgbClr val="1E2C49"/>
          </a:solidFill>
          <a:ln/>
        </p:spPr>
        <p:txBody>
          <a:bodyPr/>
          <a:lstStyle/>
          <a:p>
            <a:endParaRPr lang="en-US"/>
          </a:p>
        </p:txBody>
      </p:sp>
      <p:pic>
        <p:nvPicPr>
          <p:cNvPr id="7" name="Image 0" descr="icon_lock.png"/>
          <p:cNvPicPr>
            <a:picLocks noChangeAspect="1"/>
          </p:cNvPicPr>
          <p:nvPr/>
        </p:nvPicPr>
        <p:blipFill>
          <a:blip r:embed="rId3"/>
          <a:stretch>
            <a:fillRect/>
          </a:stretch>
        </p:blipFill>
        <p:spPr>
          <a:xfrm>
            <a:off x="994410" y="4606290"/>
            <a:ext cx="342900" cy="342900"/>
          </a:xfrm>
          <a:prstGeom prst="rect">
            <a:avLst/>
          </a:prstGeom>
        </p:spPr>
      </p:pic>
      <p:sp>
        <p:nvSpPr>
          <p:cNvPr id="8" name="Text 4"/>
          <p:cNvSpPr/>
          <p:nvPr/>
        </p:nvSpPr>
        <p:spPr>
          <a:xfrm>
            <a:off x="1691640" y="4343400"/>
            <a:ext cx="91440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RESPONSE RECOMMENDATION</a:t>
            </a:r>
            <a:endParaRPr lang="en-US" sz="1200" dirty="0"/>
          </a:p>
        </p:txBody>
      </p:sp>
      <p:sp>
        <p:nvSpPr>
          <p:cNvPr id="9" name="Text 5"/>
          <p:cNvSpPr/>
          <p:nvPr/>
        </p:nvSpPr>
        <p:spPr>
          <a:xfrm>
            <a:off x="1691640" y="4663440"/>
            <a:ext cx="9601200" cy="118872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Block the malicious URL and IP at the web gateway, purge the email from all faculty mailboxes, reset credentials for any user who clicked, isolate affected hosts, and hunt for install.exe execution and C2 traffic. Do not declare full compromise until execution on an endpoint is confirmed.</a:t>
            </a:r>
            <a:endParaRPr lang="en-US" sz="1300" dirty="0"/>
          </a:p>
        </p:txBody>
      </p:sp>
      <p:sp>
        <p:nvSpPr>
          <p:cNvPr id="10" name="Text 6"/>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E7F9C"/>
                </a:solidFill>
                <a:latin typeface="Calibri" pitchFamily="34" charset="0"/>
                <a:ea typeface="Calibri" pitchFamily="34" charset="-122"/>
                <a:cs typeface="Calibri" pitchFamily="34" charset="-120"/>
              </a:rPr>
              <a:t>Intel Validation &amp; Containment Scoping</a:t>
            </a:r>
            <a:endParaRPr lang="en-US" sz="1000" dirty="0"/>
          </a:p>
        </p:txBody>
      </p:sp>
      <p:sp>
        <p:nvSpPr>
          <p:cNvPr id="11" name="Text 7"/>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6E7F9C"/>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marL="0" indent="0">
              <a:buNone/>
            </a:pPr>
            <a:r>
              <a:rPr lang="en-US" sz="3000" b="1" dirty="0">
                <a:latin typeface="Cambria" pitchFamily="34" charset="0"/>
                <a:ea typeface="Cambria" pitchFamily="34" charset="-122"/>
                <a:cs typeface="Cambria" pitchFamily="34" charset="-120"/>
              </a:rPr>
              <a:t>Key Takeaways — The IR Mindset</a:t>
            </a:r>
            <a:endParaRPr lang="en-US" sz="3000" dirty="0"/>
          </a:p>
        </p:txBody>
      </p:sp>
      <p:sp>
        <p:nvSpPr>
          <p:cNvPr id="3" name="Shape 1"/>
          <p:cNvSpPr/>
          <p:nvPr/>
        </p:nvSpPr>
        <p:spPr>
          <a:xfrm>
            <a:off x="548640" y="1417320"/>
            <a:ext cx="5349240" cy="603504"/>
          </a:xfrm>
          <a:prstGeom prst="roundRect">
            <a:avLst>
              <a:gd name="adj" fmla="val 12121"/>
            </a:avLst>
          </a:prstGeom>
          <a:solidFill>
            <a:srgbClr val="16233B"/>
          </a:solidFill>
          <a:ln/>
        </p:spPr>
        <p:txBody>
          <a:bodyPr/>
          <a:lstStyle/>
          <a:p>
            <a:endParaRPr lang="en-US"/>
          </a:p>
        </p:txBody>
      </p:sp>
      <p:sp>
        <p:nvSpPr>
          <p:cNvPr id="4" name="Shape 2"/>
          <p:cNvSpPr/>
          <p:nvPr/>
        </p:nvSpPr>
        <p:spPr>
          <a:xfrm>
            <a:off x="694944" y="1618488"/>
            <a:ext cx="201168" cy="201168"/>
          </a:xfrm>
          <a:prstGeom prst="ellipse">
            <a:avLst/>
          </a:prstGeom>
          <a:solidFill>
            <a:srgbClr val="F2A93B"/>
          </a:solidFill>
          <a:ln/>
        </p:spPr>
        <p:txBody>
          <a:bodyPr/>
          <a:lstStyle/>
          <a:p>
            <a:endParaRPr lang="en-US"/>
          </a:p>
        </p:txBody>
      </p:sp>
      <p:sp>
        <p:nvSpPr>
          <p:cNvPr id="5" name="Text 3"/>
          <p:cNvSpPr/>
          <p:nvPr/>
        </p:nvSpPr>
        <p:spPr>
          <a:xfrm>
            <a:off x="1051560" y="1417320"/>
            <a:ext cx="4709160" cy="60350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Triage = speed + structure, not perfection. Know what to do first, even with incomplete evidence.</a:t>
            </a:r>
            <a:endParaRPr lang="en-US" sz="1300" dirty="0"/>
          </a:p>
        </p:txBody>
      </p:sp>
      <p:sp>
        <p:nvSpPr>
          <p:cNvPr id="6" name="Shape 4"/>
          <p:cNvSpPr/>
          <p:nvPr/>
        </p:nvSpPr>
        <p:spPr>
          <a:xfrm>
            <a:off x="6263640" y="1417320"/>
            <a:ext cx="5349240" cy="603504"/>
          </a:xfrm>
          <a:prstGeom prst="roundRect">
            <a:avLst>
              <a:gd name="adj" fmla="val 12121"/>
            </a:avLst>
          </a:prstGeom>
          <a:solidFill>
            <a:srgbClr val="16233B"/>
          </a:solidFill>
          <a:ln/>
        </p:spPr>
        <p:txBody>
          <a:bodyPr/>
          <a:lstStyle/>
          <a:p>
            <a:endParaRPr lang="en-US"/>
          </a:p>
        </p:txBody>
      </p:sp>
      <p:sp>
        <p:nvSpPr>
          <p:cNvPr id="7" name="Shape 5"/>
          <p:cNvSpPr/>
          <p:nvPr/>
        </p:nvSpPr>
        <p:spPr>
          <a:xfrm>
            <a:off x="6409944" y="1618488"/>
            <a:ext cx="201168" cy="201168"/>
          </a:xfrm>
          <a:prstGeom prst="ellipse">
            <a:avLst/>
          </a:prstGeom>
          <a:solidFill>
            <a:srgbClr val="F2A93B"/>
          </a:solidFill>
          <a:ln/>
        </p:spPr>
        <p:txBody>
          <a:bodyPr/>
          <a:lstStyle/>
          <a:p>
            <a:endParaRPr lang="en-US"/>
          </a:p>
        </p:txBody>
      </p:sp>
      <p:sp>
        <p:nvSpPr>
          <p:cNvPr id="8" name="Text 6"/>
          <p:cNvSpPr/>
          <p:nvPr/>
        </p:nvSpPr>
        <p:spPr>
          <a:xfrm>
            <a:off x="6766560" y="1417320"/>
            <a:ext cx="4709160" cy="60350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An alert is a lead, not a conclusion. Separate what the attacker wants you to believe from what evidence shows.</a:t>
            </a:r>
            <a:endParaRPr lang="en-US" sz="1300" dirty="0"/>
          </a:p>
        </p:txBody>
      </p:sp>
      <p:sp>
        <p:nvSpPr>
          <p:cNvPr id="9" name="Shape 7"/>
          <p:cNvSpPr/>
          <p:nvPr/>
        </p:nvSpPr>
        <p:spPr>
          <a:xfrm>
            <a:off x="548640" y="2148840"/>
            <a:ext cx="5349240" cy="603504"/>
          </a:xfrm>
          <a:prstGeom prst="roundRect">
            <a:avLst>
              <a:gd name="adj" fmla="val 12121"/>
            </a:avLst>
          </a:prstGeom>
          <a:solidFill>
            <a:srgbClr val="16233B"/>
          </a:solidFill>
          <a:ln/>
        </p:spPr>
        <p:txBody>
          <a:bodyPr/>
          <a:lstStyle/>
          <a:p>
            <a:endParaRPr lang="en-US"/>
          </a:p>
        </p:txBody>
      </p:sp>
      <p:sp>
        <p:nvSpPr>
          <p:cNvPr id="10" name="Shape 8"/>
          <p:cNvSpPr/>
          <p:nvPr/>
        </p:nvSpPr>
        <p:spPr>
          <a:xfrm>
            <a:off x="694944" y="2350008"/>
            <a:ext cx="201168" cy="201168"/>
          </a:xfrm>
          <a:prstGeom prst="ellipse">
            <a:avLst/>
          </a:prstGeom>
          <a:solidFill>
            <a:srgbClr val="F2A93B"/>
          </a:solidFill>
          <a:ln/>
        </p:spPr>
        <p:txBody>
          <a:bodyPr/>
          <a:lstStyle/>
          <a:p>
            <a:endParaRPr lang="en-US"/>
          </a:p>
        </p:txBody>
      </p:sp>
      <p:sp>
        <p:nvSpPr>
          <p:cNvPr id="11" name="Text 9"/>
          <p:cNvSpPr/>
          <p:nvPr/>
        </p:nvSpPr>
        <p:spPr>
          <a:xfrm>
            <a:off x="1051560" y="2148840"/>
            <a:ext cx="4709160" cy="60350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Containment decisions come before full understanding. Block high-confidence IOCs now; don’t wait for perfect knowledge.</a:t>
            </a:r>
            <a:endParaRPr lang="en-US" sz="1300" dirty="0"/>
          </a:p>
        </p:txBody>
      </p:sp>
      <p:sp>
        <p:nvSpPr>
          <p:cNvPr id="12" name="Shape 10"/>
          <p:cNvSpPr/>
          <p:nvPr/>
        </p:nvSpPr>
        <p:spPr>
          <a:xfrm>
            <a:off x="6263640" y="2148840"/>
            <a:ext cx="5349240" cy="603504"/>
          </a:xfrm>
          <a:prstGeom prst="roundRect">
            <a:avLst>
              <a:gd name="adj" fmla="val 12121"/>
            </a:avLst>
          </a:prstGeom>
          <a:solidFill>
            <a:srgbClr val="16233B"/>
          </a:solidFill>
          <a:ln/>
        </p:spPr>
        <p:txBody>
          <a:bodyPr/>
          <a:lstStyle/>
          <a:p>
            <a:endParaRPr lang="en-US"/>
          </a:p>
        </p:txBody>
      </p:sp>
      <p:sp>
        <p:nvSpPr>
          <p:cNvPr id="13" name="Shape 11"/>
          <p:cNvSpPr/>
          <p:nvPr/>
        </p:nvSpPr>
        <p:spPr>
          <a:xfrm>
            <a:off x="6409944" y="2350008"/>
            <a:ext cx="201168" cy="201168"/>
          </a:xfrm>
          <a:prstGeom prst="ellipse">
            <a:avLst/>
          </a:prstGeom>
          <a:solidFill>
            <a:srgbClr val="F2A93B"/>
          </a:solidFill>
          <a:ln/>
        </p:spPr>
        <p:txBody>
          <a:bodyPr/>
          <a:lstStyle/>
          <a:p>
            <a:endParaRPr lang="en-US"/>
          </a:p>
        </p:txBody>
      </p:sp>
      <p:sp>
        <p:nvSpPr>
          <p:cNvPr id="14" name="Text 12"/>
          <p:cNvSpPr/>
          <p:nvPr/>
        </p:nvSpPr>
        <p:spPr>
          <a:xfrm>
            <a:off x="6766560" y="2148840"/>
            <a:ext cx="4709160" cy="60350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Distinguish “confirmed” from “suspected” — and act accordingly. Match actions to confidence level.</a:t>
            </a:r>
            <a:endParaRPr lang="en-US" sz="1300" dirty="0"/>
          </a:p>
        </p:txBody>
      </p:sp>
      <p:sp>
        <p:nvSpPr>
          <p:cNvPr id="15" name="Shape 13"/>
          <p:cNvSpPr/>
          <p:nvPr/>
        </p:nvSpPr>
        <p:spPr>
          <a:xfrm>
            <a:off x="548640" y="2880360"/>
            <a:ext cx="5349240" cy="603504"/>
          </a:xfrm>
          <a:prstGeom prst="roundRect">
            <a:avLst>
              <a:gd name="adj" fmla="val 12121"/>
            </a:avLst>
          </a:prstGeom>
          <a:solidFill>
            <a:srgbClr val="16233B"/>
          </a:solidFill>
          <a:ln/>
        </p:spPr>
        <p:txBody>
          <a:bodyPr/>
          <a:lstStyle/>
          <a:p>
            <a:endParaRPr lang="en-US"/>
          </a:p>
        </p:txBody>
      </p:sp>
      <p:sp>
        <p:nvSpPr>
          <p:cNvPr id="16" name="Shape 14"/>
          <p:cNvSpPr/>
          <p:nvPr/>
        </p:nvSpPr>
        <p:spPr>
          <a:xfrm>
            <a:off x="694944" y="3081528"/>
            <a:ext cx="201168" cy="201168"/>
          </a:xfrm>
          <a:prstGeom prst="ellipse">
            <a:avLst/>
          </a:prstGeom>
          <a:solidFill>
            <a:srgbClr val="F2A93B"/>
          </a:solidFill>
          <a:ln/>
        </p:spPr>
        <p:txBody>
          <a:bodyPr/>
          <a:lstStyle/>
          <a:p>
            <a:endParaRPr lang="en-US"/>
          </a:p>
        </p:txBody>
      </p:sp>
      <p:sp>
        <p:nvSpPr>
          <p:cNvPr id="17" name="Text 15"/>
          <p:cNvSpPr/>
          <p:nvPr/>
        </p:nvSpPr>
        <p:spPr>
          <a:xfrm>
            <a:off x="1051560" y="2880360"/>
            <a:ext cx="4709160" cy="60350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IOCs are only useful if actionable. Sort by confidence &amp; impact; block high-confidence, investigate medium, discard noise.</a:t>
            </a:r>
            <a:endParaRPr lang="en-US" sz="1300" dirty="0"/>
          </a:p>
        </p:txBody>
      </p:sp>
      <p:sp>
        <p:nvSpPr>
          <p:cNvPr id="18" name="Shape 16"/>
          <p:cNvSpPr/>
          <p:nvPr/>
        </p:nvSpPr>
        <p:spPr>
          <a:xfrm>
            <a:off x="6263640" y="2880360"/>
            <a:ext cx="5349240" cy="603504"/>
          </a:xfrm>
          <a:prstGeom prst="roundRect">
            <a:avLst>
              <a:gd name="adj" fmla="val 12121"/>
            </a:avLst>
          </a:prstGeom>
          <a:solidFill>
            <a:srgbClr val="16233B"/>
          </a:solidFill>
          <a:ln/>
        </p:spPr>
        <p:txBody>
          <a:bodyPr/>
          <a:lstStyle/>
          <a:p>
            <a:endParaRPr lang="en-US"/>
          </a:p>
        </p:txBody>
      </p:sp>
      <p:sp>
        <p:nvSpPr>
          <p:cNvPr id="19" name="Shape 17"/>
          <p:cNvSpPr/>
          <p:nvPr/>
        </p:nvSpPr>
        <p:spPr>
          <a:xfrm>
            <a:off x="6409944" y="3081528"/>
            <a:ext cx="201168" cy="201168"/>
          </a:xfrm>
          <a:prstGeom prst="ellipse">
            <a:avLst/>
          </a:prstGeom>
          <a:solidFill>
            <a:srgbClr val="F2A93B"/>
          </a:solidFill>
          <a:ln/>
        </p:spPr>
        <p:txBody>
          <a:bodyPr/>
          <a:lstStyle/>
          <a:p>
            <a:endParaRPr lang="en-US"/>
          </a:p>
        </p:txBody>
      </p:sp>
      <p:sp>
        <p:nvSpPr>
          <p:cNvPr id="20" name="Text 18"/>
          <p:cNvSpPr/>
          <p:nvPr/>
        </p:nvSpPr>
        <p:spPr>
          <a:xfrm>
            <a:off x="6766560" y="2880360"/>
            <a:ext cx="4709160" cy="60350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Communication is part of containment. Deliver a 60-second briefing: what happened, what we know, what we’re doing, what we need.</a:t>
            </a:r>
            <a:endParaRPr lang="en-US" sz="1300" dirty="0"/>
          </a:p>
        </p:txBody>
      </p:sp>
      <p:sp>
        <p:nvSpPr>
          <p:cNvPr id="21" name="Shape 19"/>
          <p:cNvSpPr/>
          <p:nvPr/>
        </p:nvSpPr>
        <p:spPr>
          <a:xfrm>
            <a:off x="548640" y="3611880"/>
            <a:ext cx="5349240" cy="603504"/>
          </a:xfrm>
          <a:prstGeom prst="roundRect">
            <a:avLst>
              <a:gd name="adj" fmla="val 12121"/>
            </a:avLst>
          </a:prstGeom>
          <a:solidFill>
            <a:srgbClr val="16233B"/>
          </a:solidFill>
          <a:ln/>
        </p:spPr>
        <p:txBody>
          <a:bodyPr/>
          <a:lstStyle/>
          <a:p>
            <a:endParaRPr lang="en-US"/>
          </a:p>
        </p:txBody>
      </p:sp>
      <p:sp>
        <p:nvSpPr>
          <p:cNvPr id="22" name="Shape 20"/>
          <p:cNvSpPr/>
          <p:nvPr/>
        </p:nvSpPr>
        <p:spPr>
          <a:xfrm>
            <a:off x="694944" y="3813048"/>
            <a:ext cx="201168" cy="201168"/>
          </a:xfrm>
          <a:prstGeom prst="ellipse">
            <a:avLst/>
          </a:prstGeom>
          <a:solidFill>
            <a:srgbClr val="F2A93B"/>
          </a:solidFill>
          <a:ln/>
        </p:spPr>
        <p:txBody>
          <a:bodyPr/>
          <a:lstStyle/>
          <a:p>
            <a:endParaRPr lang="en-US"/>
          </a:p>
        </p:txBody>
      </p:sp>
      <p:sp>
        <p:nvSpPr>
          <p:cNvPr id="23" name="Text 21"/>
          <p:cNvSpPr/>
          <p:nvPr/>
        </p:nvSpPr>
        <p:spPr>
          <a:xfrm>
            <a:off x="1051560" y="3611880"/>
            <a:ext cx="4709160" cy="60350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The goal is to stop the next incident, not just document this one. Feed lessons back into prevention.</a:t>
            </a:r>
            <a:endParaRPr lang="en-US" sz="1300" dirty="0"/>
          </a:p>
        </p:txBody>
      </p:sp>
      <p:sp>
        <p:nvSpPr>
          <p:cNvPr id="24" name="Shape 22"/>
          <p:cNvSpPr/>
          <p:nvPr/>
        </p:nvSpPr>
        <p:spPr>
          <a:xfrm>
            <a:off x="6263640" y="3611880"/>
            <a:ext cx="5349240" cy="603504"/>
          </a:xfrm>
          <a:prstGeom prst="roundRect">
            <a:avLst>
              <a:gd name="adj" fmla="val 12121"/>
            </a:avLst>
          </a:prstGeom>
          <a:solidFill>
            <a:srgbClr val="16233B"/>
          </a:solidFill>
          <a:ln/>
        </p:spPr>
        <p:txBody>
          <a:bodyPr/>
          <a:lstStyle/>
          <a:p>
            <a:endParaRPr lang="en-US"/>
          </a:p>
        </p:txBody>
      </p:sp>
      <p:sp>
        <p:nvSpPr>
          <p:cNvPr id="25" name="Shape 23"/>
          <p:cNvSpPr/>
          <p:nvPr/>
        </p:nvSpPr>
        <p:spPr>
          <a:xfrm>
            <a:off x="6409944" y="3813048"/>
            <a:ext cx="201168" cy="201168"/>
          </a:xfrm>
          <a:prstGeom prst="ellipse">
            <a:avLst/>
          </a:prstGeom>
          <a:solidFill>
            <a:srgbClr val="F2A93B"/>
          </a:solidFill>
          <a:ln/>
        </p:spPr>
        <p:txBody>
          <a:bodyPr/>
          <a:lstStyle/>
          <a:p>
            <a:endParaRPr lang="en-US"/>
          </a:p>
        </p:txBody>
      </p:sp>
      <p:sp>
        <p:nvSpPr>
          <p:cNvPr id="26" name="Text 24"/>
          <p:cNvSpPr/>
          <p:nvPr/>
        </p:nvSpPr>
        <p:spPr>
          <a:xfrm>
            <a:off x="6766560" y="3611880"/>
            <a:ext cx="4709160" cy="60350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The IR mindset: take any alert from report → validated IOCs → containment decision → stakeholder briefing — all in the first hour.</a:t>
            </a:r>
            <a:endParaRPr lang="en-US" sz="1300" dirty="0"/>
          </a:p>
        </p:txBody>
      </p:sp>
      <p:sp>
        <p:nvSpPr>
          <p:cNvPr id="27" name="Text 25"/>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6E7F9C"/>
                </a:solidFill>
                <a:latin typeface="Calibri" pitchFamily="34" charset="0"/>
                <a:ea typeface="Calibri" pitchFamily="34" charset="-122"/>
                <a:cs typeface="Calibri" pitchFamily="34" charset="-120"/>
              </a:rPr>
              <a:t>Key Takeaways</a:t>
            </a:r>
            <a:endParaRPr lang="en-US" sz="1000" dirty="0"/>
          </a:p>
        </p:txBody>
      </p:sp>
      <p:sp>
        <p:nvSpPr>
          <p:cNvPr id="28" name="Text 26"/>
          <p:cNvSpPr/>
          <p:nvPr/>
        </p:nvSpPr>
        <p:spPr>
          <a:xfrm>
            <a:off x="8961120" y="6510528"/>
            <a:ext cx="2743200" cy="274320"/>
          </a:xfrm>
          <a:prstGeom prst="rect">
            <a:avLst/>
          </a:prstGeom>
          <a:noFill/>
          <a:ln/>
        </p:spPr>
        <p:txBody>
          <a:bodyPr wrap="square" rtlCol="0" anchor="ctr"/>
          <a:lstStyle/>
          <a:p>
            <a:pPr marL="0" indent="0" algn="r">
              <a:buNone/>
            </a:pPr>
            <a:r>
              <a:rPr lang="en-US" sz="1000" dirty="0">
                <a:solidFill>
                  <a:srgbClr val="6E7F9C"/>
                </a:solidFill>
                <a:latin typeface="Calibri" pitchFamily="34" charset="0"/>
                <a:ea typeface="Calibri" pitchFamily="34" charset="-122"/>
                <a:cs typeface="Calibri" pitchFamily="34" charset="-120"/>
              </a:rPr>
              <a:t>Week 1 Lab</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1692</Words>
  <Application>Microsoft Macintosh PowerPoint</Application>
  <PresentationFormat>Widescreen</PresentationFormat>
  <Paragraphs>242</Paragraphs>
  <Slides>16</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Cambria</vt:lpstr>
      <vt:lpstr>Canva Sans Bold</vt:lpstr>
      <vt:lpstr>gg sans</vt:lpstr>
      <vt:lpstr>Helios Extended</vt:lpstr>
      <vt:lpstr>Helios Extended Bold</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시유 왕</cp:lastModifiedBy>
  <cp:revision>32</cp:revision>
  <dcterms:created xsi:type="dcterms:W3CDTF">2026-07-31T15:34:50Z</dcterms:created>
  <dcterms:modified xsi:type="dcterms:W3CDTF">2026-07-31T18:25:08Z</dcterms:modified>
</cp:coreProperties>
</file>